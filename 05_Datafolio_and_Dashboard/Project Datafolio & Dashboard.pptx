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8" r:id="rId2"/>
  </p:sldIdLst>
  <p:sldSz cx="14630400" cy="7315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6AFF"/>
    <a:srgbClr val="2C3E50"/>
    <a:srgbClr val="2E7D32"/>
    <a:srgbClr val="F1C08B"/>
    <a:srgbClr val="D59F81"/>
    <a:srgbClr val="E9C09F"/>
    <a:srgbClr val="8BA7FF"/>
    <a:srgbClr val="7D7D7D"/>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snapToGrid="0">
      <p:cViewPr>
        <p:scale>
          <a:sx n="75" d="100"/>
          <a:sy n="75" d="100"/>
        </p:scale>
        <p:origin x="835" y="11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cleaning%20Olist%20store\Final%20Sheets\Excel%20Sheets\order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uncleaned%20Olist%20store\Final%20Sheets\Excel%20Sheets\order_item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cleaning%20Olist%20store\Final%20Sheets\Excel%20Sheets\order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uncleaned%20Olist%20store\EDA%20Excel%20Sheets\order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uncleaned%20Olist%20store\EDA%20Excel%20Sheets\order_items.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[orders.xlsx]Sheet1!PivotTable1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100" b="1" dirty="0">
                <a:solidFill>
                  <a:srgbClr val="2C3E50"/>
                </a:solidFill>
              </a:rPr>
              <a:t>AVG Delivery Days VS Review Score </a:t>
            </a:r>
          </a:p>
        </c:rich>
      </c:tx>
      <c:layout>
        <c:manualLayout>
          <c:xMode val="edge"/>
          <c:yMode val="edge"/>
          <c:x val="9.6943815786281376E-2"/>
          <c:y val="9.232892656633180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31750" cap="rnd">
            <a:solidFill>
              <a:schemeClr val="accent1"/>
            </a:solidFill>
            <a:round/>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806829985070382"/>
          <c:y val="0.28030689688082228"/>
          <c:w val="0.71987784421893086"/>
          <c:h val="0.47737849232135382"/>
        </c:manualLayout>
      </c:layout>
      <c:lineChart>
        <c:grouping val="standard"/>
        <c:varyColors val="0"/>
        <c:ser>
          <c:idx val="0"/>
          <c:order val="0"/>
          <c:tx>
            <c:strRef>
              <c:f>Sheet1!$B$2</c:f>
              <c:strCache>
                <c:ptCount val="1"/>
                <c:pt idx="0">
                  <c:v>Total</c:v>
                </c:pt>
              </c:strCache>
            </c:strRef>
          </c:tx>
          <c:spPr>
            <a:ln w="28575" cap="rnd">
              <a:solidFill>
                <a:srgbClr val="8BA7FF"/>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Sheet1!$A$3:$A$7</c:f>
              <c:strCache>
                <c:ptCount val="5"/>
                <c:pt idx="0">
                  <c:v>1</c:v>
                </c:pt>
                <c:pt idx="1">
                  <c:v>2</c:v>
                </c:pt>
                <c:pt idx="2">
                  <c:v>3</c:v>
                </c:pt>
                <c:pt idx="3">
                  <c:v>4</c:v>
                </c:pt>
                <c:pt idx="4">
                  <c:v>5</c:v>
                </c:pt>
              </c:strCache>
            </c:strRef>
          </c:cat>
          <c:val>
            <c:numRef>
              <c:f>Sheet1!$B$3:$B$7</c:f>
              <c:numCache>
                <c:formatCode>0</c:formatCode>
                <c:ptCount val="5"/>
                <c:pt idx="0">
                  <c:v>20.857871019168986</c:v>
                </c:pt>
                <c:pt idx="1">
                  <c:v>16.170606372045221</c:v>
                </c:pt>
                <c:pt idx="2">
                  <c:v>13.787312018197902</c:v>
                </c:pt>
                <c:pt idx="3">
                  <c:v>12.054301653104048</c:v>
                </c:pt>
                <c:pt idx="4">
                  <c:v>10.21824018543281</c:v>
                </c:pt>
              </c:numCache>
            </c:numRef>
          </c:val>
          <c:smooth val="0"/>
          <c:extLst>
            <c:ext xmlns:c16="http://schemas.microsoft.com/office/drawing/2014/chart" uri="{C3380CC4-5D6E-409C-BE32-E72D297353CC}">
              <c16:uniqueId val="{00000000-1DFD-4407-BF69-3F76839B66DF}"/>
            </c:ext>
          </c:extLst>
        </c:ser>
        <c:dLbls>
          <c:dLblPos val="t"/>
          <c:showLegendKey val="0"/>
          <c:showVal val="1"/>
          <c:showCatName val="0"/>
          <c:showSerName val="0"/>
          <c:showPercent val="0"/>
          <c:showBubbleSize val="0"/>
        </c:dLbls>
        <c:marker val="1"/>
        <c:smooth val="0"/>
        <c:axId val="1014703104"/>
        <c:axId val="1014705504"/>
      </c:lineChart>
      <c:catAx>
        <c:axId val="1014703104"/>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000" dirty="0"/>
                  <a:t>Review Score</a:t>
                </a:r>
              </a:p>
            </c:rich>
          </c:tx>
          <c:layout>
            <c:manualLayout>
              <c:xMode val="edge"/>
              <c:yMode val="edge"/>
              <c:x val="0.43223118157398083"/>
              <c:y val="0.8866647578975323"/>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4705504"/>
        <c:crosses val="autoZero"/>
        <c:auto val="1"/>
        <c:lblAlgn val="ctr"/>
        <c:lblOffset val="100"/>
        <c:noMultiLvlLbl val="0"/>
      </c:catAx>
      <c:valAx>
        <c:axId val="10147055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000" dirty="0"/>
                  <a:t>AVG Delivery Days</a:t>
                </a:r>
              </a:p>
            </c:rich>
          </c:tx>
          <c:layout>
            <c:manualLayout>
              <c:xMode val="edge"/>
              <c:yMode val="edge"/>
              <c:x val="3.0364749292713111E-2"/>
              <c:y val="0.28091151498310529"/>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47031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[order_items.xlsx]Sheet3!PivotTable8</c:name>
    <c:fmtId val="-1"/>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sz="1100" dirty="0">
                <a:solidFill>
                  <a:srgbClr val="2C3E50"/>
                </a:solidFill>
              </a:rPr>
              <a:t>Top 5 Seller State Revenue</a:t>
            </a:r>
          </a:p>
        </c:rich>
      </c:tx>
      <c:layout>
        <c:manualLayout>
          <c:xMode val="edge"/>
          <c:yMode val="edge"/>
          <c:x val="0.17723173359560518"/>
          <c:y val="4.0123022874861976E-2"/>
        </c:manualLayout>
      </c:layout>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circle"/>
          <c:size val="6"/>
          <c:spPr>
            <a:solidFill>
              <a:schemeClr val="accent4"/>
            </a:solidFill>
            <a:ln w="9525">
              <a:solidFill>
                <a:schemeClr val="accent4"/>
              </a:solidFill>
              <a:round/>
            </a:ln>
            <a:effectLst/>
          </c:spPr>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502815152818692E-2"/>
          <c:y val="0.25317642308801241"/>
          <c:w val="0.914037233127027"/>
          <c:h val="0.59222792825666515"/>
        </c:manualLayout>
      </c:layout>
      <c:barChart>
        <c:barDir val="col"/>
        <c:grouping val="clustered"/>
        <c:varyColors val="1"/>
        <c:ser>
          <c:idx val="0"/>
          <c:order val="0"/>
          <c:tx>
            <c:strRef>
              <c:f>Sheet3!$F$10</c:f>
              <c:strCache>
                <c:ptCount val="1"/>
                <c:pt idx="0">
                  <c:v>Total</c:v>
                </c:pt>
              </c:strCache>
            </c:strRef>
          </c:tx>
          <c:invertIfNegative val="0"/>
          <c:dPt>
            <c:idx val="0"/>
            <c:invertIfNegative val="0"/>
            <c:bubble3D val="0"/>
            <c:spPr>
              <a:solidFill>
                <a:schemeClr val="accent4">
                  <a:shade val="53000"/>
                </a:schemeClr>
              </a:solidFill>
              <a:ln>
                <a:noFill/>
              </a:ln>
              <a:effectLst/>
            </c:spPr>
            <c:extLst>
              <c:ext xmlns:c16="http://schemas.microsoft.com/office/drawing/2014/chart" uri="{C3380CC4-5D6E-409C-BE32-E72D297353CC}">
                <c16:uniqueId val="{00000000-0092-4E66-A1B9-A8A63ADC9234}"/>
              </c:ext>
            </c:extLst>
          </c:dPt>
          <c:dPt>
            <c:idx val="1"/>
            <c:invertIfNegative val="0"/>
            <c:bubble3D val="0"/>
            <c:spPr>
              <a:solidFill>
                <a:schemeClr val="accent4">
                  <a:shade val="76000"/>
                </a:schemeClr>
              </a:solidFill>
              <a:ln>
                <a:noFill/>
              </a:ln>
              <a:effectLst/>
            </c:spPr>
            <c:extLst>
              <c:ext xmlns:c16="http://schemas.microsoft.com/office/drawing/2014/chart" uri="{C3380CC4-5D6E-409C-BE32-E72D297353CC}">
                <c16:uniqueId val="{00000001-0092-4E66-A1B9-A8A63ADC9234}"/>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2-0092-4E66-A1B9-A8A63ADC9234}"/>
              </c:ext>
            </c:extLst>
          </c:dPt>
          <c:dPt>
            <c:idx val="3"/>
            <c:invertIfNegative val="0"/>
            <c:bubble3D val="0"/>
            <c:spPr>
              <a:solidFill>
                <a:schemeClr val="accent4">
                  <a:tint val="77000"/>
                </a:schemeClr>
              </a:solidFill>
              <a:ln>
                <a:noFill/>
              </a:ln>
              <a:effectLst/>
            </c:spPr>
            <c:extLst>
              <c:ext xmlns:c16="http://schemas.microsoft.com/office/drawing/2014/chart" uri="{C3380CC4-5D6E-409C-BE32-E72D297353CC}">
                <c16:uniqueId val="{00000003-0092-4E66-A1B9-A8A63ADC9234}"/>
              </c:ext>
            </c:extLst>
          </c:dPt>
          <c:dPt>
            <c:idx val="4"/>
            <c:invertIfNegative val="0"/>
            <c:bubble3D val="0"/>
            <c:spPr>
              <a:solidFill>
                <a:schemeClr val="accent4">
                  <a:tint val="54000"/>
                </a:schemeClr>
              </a:solidFill>
              <a:ln>
                <a:noFill/>
              </a:ln>
              <a:effectLst/>
            </c:spPr>
            <c:extLst>
              <c:ext xmlns:c16="http://schemas.microsoft.com/office/drawing/2014/chart" uri="{C3380CC4-5D6E-409C-BE32-E72D297353CC}">
                <c16:uniqueId val="{00000004-0092-4E66-A1B9-A8A63ADC9234}"/>
              </c:ext>
            </c:extLst>
          </c:dPt>
          <c:dLbls>
            <c:dLbl>
              <c:idx val="0"/>
              <c:layout>
                <c:manualLayout>
                  <c:x val="8.6442071560422322E-3"/>
                  <c:y val="0.34268941735303654"/>
                </c:manualLayout>
              </c:layout>
              <c:tx>
                <c:rich>
                  <a:bodyPr/>
                  <a:lstStyle/>
                  <a:p>
                    <a:fld id="{503DF29D-6E50-473E-BCB6-7F6B5D39AB18}" type="VALUE">
                      <a:rPr lang="en-US" baseline="0" dirty="0">
                        <a:solidFill>
                          <a:srgbClr val="2C3E50"/>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0092-4E66-A1B9-A8A63ADC9234}"/>
                </c:ext>
              </c:extLst>
            </c:dLbl>
            <c:dLbl>
              <c:idx val="1"/>
              <c:layout>
                <c:manualLayout>
                  <c:x val="0"/>
                  <c:y val="1.9038300964057588E-2"/>
                </c:manualLayout>
              </c:layout>
              <c:tx>
                <c:rich>
                  <a:bodyPr/>
                  <a:lstStyle/>
                  <a:p>
                    <a:fld id="{FF263BFC-F21D-4228-8B4C-EA499CAFC9B7}" type="VALUE">
                      <a:rPr lang="en-US" sz="900">
                        <a:solidFill>
                          <a:srgbClr val="2C3E50"/>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092-4E66-A1B9-A8A63ADC9234}"/>
                </c:ext>
              </c:extLst>
            </c:dLbl>
            <c:dLbl>
              <c:idx val="2"/>
              <c:layout>
                <c:manualLayout>
                  <c:x val="0"/>
                  <c:y val="1.2692200642705058E-2"/>
                </c:manualLayout>
              </c:layout>
              <c:tx>
                <c:rich>
                  <a:bodyPr/>
                  <a:lstStyle/>
                  <a:p>
                    <a:fld id="{BD1BBC13-37C6-46D5-8C99-1712DF013A0A}" type="VALUE">
                      <a:rPr lang="en-US" sz="870">
                        <a:solidFill>
                          <a:srgbClr val="2C3E50"/>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092-4E66-A1B9-A8A63ADC9234}"/>
                </c:ext>
              </c:extLst>
            </c:dLbl>
            <c:dLbl>
              <c:idx val="3"/>
              <c:layout>
                <c:manualLayout>
                  <c:x val="0"/>
                  <c:y val="2.5384401285410117E-2"/>
                </c:manualLayout>
              </c:layout>
              <c:tx>
                <c:rich>
                  <a:bodyPr/>
                  <a:lstStyle/>
                  <a:p>
                    <a:fld id="{1530D337-296F-46C7-B7A7-CB4537871544}" type="VALUE">
                      <a:rPr lang="en-US" sz="830">
                        <a:solidFill>
                          <a:srgbClr val="2C3E50"/>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092-4E66-A1B9-A8A63ADC9234}"/>
                </c:ext>
              </c:extLst>
            </c:dLbl>
            <c:dLbl>
              <c:idx val="4"/>
              <c:layout>
                <c:manualLayout>
                  <c:x val="0"/>
                  <c:y val="6.3461003213525291E-3"/>
                </c:manualLayout>
              </c:layout>
              <c:tx>
                <c:rich>
                  <a:bodyPr/>
                  <a:lstStyle/>
                  <a:p>
                    <a:fld id="{CA07661F-A647-42FA-B66B-05C830C54643}" type="VALUE">
                      <a:rPr lang="en-US" sz="800">
                        <a:solidFill>
                          <a:srgbClr val="2C3E50"/>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092-4E66-A1B9-A8A63ADC9234}"/>
                </c:ext>
              </c:extLst>
            </c:dLbl>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Sheet3!$E$11:$E$15</c:f>
              <c:strCache>
                <c:ptCount val="5"/>
                <c:pt idx="0">
                  <c:v>SP</c:v>
                </c:pt>
                <c:pt idx="1">
                  <c:v>PR</c:v>
                </c:pt>
                <c:pt idx="2">
                  <c:v>MG</c:v>
                </c:pt>
                <c:pt idx="3">
                  <c:v>RJ</c:v>
                </c:pt>
                <c:pt idx="4">
                  <c:v>SC</c:v>
                </c:pt>
              </c:strCache>
            </c:strRef>
          </c:cat>
          <c:val>
            <c:numRef>
              <c:f>Sheet3!$F$11:$F$15</c:f>
              <c:numCache>
                <c:formatCode>[$R$-416]\ #,##0</c:formatCode>
                <c:ptCount val="5"/>
                <c:pt idx="0">
                  <c:v>8509511.4600069392</c:v>
                </c:pt>
                <c:pt idx="1">
                  <c:v>1232096.9899999974</c:v>
                </c:pt>
                <c:pt idx="2">
                  <c:v>977866.31000004534</c:v>
                </c:pt>
                <c:pt idx="3">
                  <c:v>820611.59000002302</c:v>
                </c:pt>
                <c:pt idx="4">
                  <c:v>613591.65000001574</c:v>
                </c:pt>
              </c:numCache>
            </c:numRef>
          </c:val>
          <c:extLst>
            <c:ext xmlns:c16="http://schemas.microsoft.com/office/drawing/2014/chart" uri="{C3380CC4-5D6E-409C-BE32-E72D297353CC}">
              <c16:uniqueId val="{00000000-7D8F-4BF9-B3AB-40115D0AF849}"/>
            </c:ext>
          </c:extLst>
        </c:ser>
        <c:dLbls>
          <c:dLblPos val="outEnd"/>
          <c:showLegendKey val="0"/>
          <c:showVal val="1"/>
          <c:showCatName val="0"/>
          <c:showSerName val="0"/>
          <c:showPercent val="0"/>
          <c:showBubbleSize val="0"/>
        </c:dLbls>
        <c:gapWidth val="150"/>
        <c:overlap val="-90"/>
        <c:axId val="938651807"/>
        <c:axId val="938653727"/>
      </c:barChart>
      <c:catAx>
        <c:axId val="9386518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938653727"/>
        <c:crosses val="autoZero"/>
        <c:auto val="1"/>
        <c:lblAlgn val="ctr"/>
        <c:lblOffset val="100"/>
        <c:noMultiLvlLbl val="0"/>
      </c:catAx>
      <c:valAx>
        <c:axId val="938653727"/>
        <c:scaling>
          <c:orientation val="minMax"/>
        </c:scaling>
        <c:delete val="1"/>
        <c:axPos val="l"/>
        <c:numFmt formatCode="[$R$-416]\ #,##0" sourceLinked="1"/>
        <c:majorTickMark val="none"/>
        <c:minorTickMark val="none"/>
        <c:tickLblPos val="nextTo"/>
        <c:crossAx val="9386518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sz="1100" dirty="0">
                <a:solidFill>
                  <a:srgbClr val="2C3E50"/>
                </a:solidFill>
              </a:rPr>
              <a:t>SP State Vs Other States Sales</a:t>
            </a:r>
          </a:p>
        </c:rich>
      </c:tx>
      <c:layout>
        <c:manualLayout>
          <c:xMode val="edge"/>
          <c:yMode val="edge"/>
          <c:x val="0.13750798349834298"/>
          <c:y val="6.2758980757442628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2157136051294095E-2"/>
          <c:y val="6.2450266062672538E-2"/>
          <c:w val="0.78212278880500286"/>
          <c:h val="0.9284903159904826"/>
        </c:manualLayout>
      </c:layout>
      <c:pieChart>
        <c:varyColors val="1"/>
        <c:ser>
          <c:idx val="0"/>
          <c:order val="0"/>
          <c:tx>
            <c:strRef>
              <c:f>Sheet1!$K$4</c:f>
              <c:strCache>
                <c:ptCount val="1"/>
                <c:pt idx="0">
                  <c:v>Count of Orders</c:v>
                </c:pt>
              </c:strCache>
            </c:strRef>
          </c:tx>
          <c:explosion val="114"/>
          <c:dPt>
            <c:idx val="0"/>
            <c:bubble3D val="0"/>
            <c:explosion val="28"/>
            <c:spPr>
              <a:gradFill rotWithShape="1">
                <a:gsLst>
                  <a:gs pos="0">
                    <a:schemeClr val="accent4">
                      <a:shade val="76000"/>
                      <a:satMod val="103000"/>
                      <a:lumMod val="102000"/>
                      <a:tint val="94000"/>
                    </a:schemeClr>
                  </a:gs>
                  <a:gs pos="50000">
                    <a:schemeClr val="accent4">
                      <a:shade val="76000"/>
                      <a:satMod val="110000"/>
                      <a:lumMod val="100000"/>
                      <a:shade val="100000"/>
                    </a:schemeClr>
                  </a:gs>
                  <a:gs pos="100000">
                    <a:schemeClr val="accent4">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91EE-4F7E-B9E0-DBEBBBF28796}"/>
              </c:ext>
            </c:extLst>
          </c:dPt>
          <c:dPt>
            <c:idx val="1"/>
            <c:bubble3D val="0"/>
            <c:explosion val="24"/>
            <c:spPr>
              <a:gradFill rotWithShape="1">
                <a:gsLst>
                  <a:gs pos="0">
                    <a:schemeClr val="accent4">
                      <a:tint val="77000"/>
                      <a:satMod val="103000"/>
                      <a:lumMod val="102000"/>
                      <a:tint val="94000"/>
                    </a:schemeClr>
                  </a:gs>
                  <a:gs pos="50000">
                    <a:schemeClr val="accent4">
                      <a:tint val="77000"/>
                      <a:satMod val="110000"/>
                      <a:lumMod val="100000"/>
                      <a:shade val="100000"/>
                    </a:schemeClr>
                  </a:gs>
                  <a:gs pos="100000">
                    <a:schemeClr val="accent4">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91EE-4F7E-B9E0-DBEBBBF28796}"/>
              </c:ext>
            </c:extLst>
          </c:dPt>
          <c:dLbls>
            <c:dLbl>
              <c:idx val="0"/>
              <c:layout>
                <c:manualLayout>
                  <c:x val="-0.15682357664886556"/>
                  <c:y val="-0.11791123143575054"/>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EE-4F7E-B9E0-DBEBBBF28796}"/>
                </c:ext>
              </c:extLst>
            </c:dLbl>
            <c:dLbl>
              <c:idx val="1"/>
              <c:layout>
                <c:manualLayout>
                  <c:x val="0.13747053647028473"/>
                  <c:y val="0.1106591527979677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EE-4F7E-B9E0-DBEBBBF2879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Sheet1!$J$5:$J$6</c:f>
              <c:strCache>
                <c:ptCount val="2"/>
                <c:pt idx="0">
                  <c:v>SP</c:v>
                </c:pt>
                <c:pt idx="1">
                  <c:v>The other 21 States</c:v>
                </c:pt>
              </c:strCache>
            </c:strRef>
          </c:cat>
          <c:val>
            <c:numRef>
              <c:f>Sheet1!$K$5:$K$6</c:f>
              <c:numCache>
                <c:formatCode>0%</c:formatCode>
                <c:ptCount val="2"/>
                <c:pt idx="0">
                  <c:v>0.70918758680735505</c:v>
                </c:pt>
                <c:pt idx="1">
                  <c:v>0.29081241319264495</c:v>
                </c:pt>
              </c:numCache>
            </c:numRef>
          </c:val>
          <c:extLst>
            <c:ext xmlns:c16="http://schemas.microsoft.com/office/drawing/2014/chart" uri="{C3380CC4-5D6E-409C-BE32-E72D297353CC}">
              <c16:uniqueId val="{00000004-91EE-4F7E-B9E0-DBEBBBF28796}"/>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100" dirty="0">
                <a:solidFill>
                  <a:srgbClr val="2C3E50"/>
                </a:solidFill>
              </a:rPr>
              <a:t>Order Delivery Performance</a:t>
            </a:r>
          </a:p>
        </c:rich>
      </c:tx>
      <c:layout>
        <c:manualLayout>
          <c:xMode val="edge"/>
          <c:yMode val="edge"/>
          <c:x val="0.11555979081775303"/>
          <c:y val="5.5146922106539861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1960537613595191"/>
          <c:y val="0.17346648829610023"/>
          <c:w val="0.55851072629783494"/>
          <c:h val="0.64379553622254249"/>
        </c:manualLayout>
      </c:layout>
      <c:pieChart>
        <c:varyColors val="1"/>
        <c:ser>
          <c:idx val="0"/>
          <c:order val="0"/>
          <c:explosion val="28"/>
          <c:dPt>
            <c:idx val="0"/>
            <c:bubble3D val="0"/>
            <c:explosion val="42"/>
            <c:spPr>
              <a:gradFill rotWithShape="1">
                <a:gsLst>
                  <a:gs pos="0">
                    <a:schemeClr val="accent4">
                      <a:shade val="76000"/>
                      <a:satMod val="103000"/>
                      <a:lumMod val="102000"/>
                      <a:tint val="94000"/>
                    </a:schemeClr>
                  </a:gs>
                  <a:gs pos="50000">
                    <a:schemeClr val="accent4">
                      <a:shade val="76000"/>
                      <a:satMod val="110000"/>
                      <a:lumMod val="100000"/>
                      <a:shade val="100000"/>
                    </a:schemeClr>
                  </a:gs>
                  <a:gs pos="100000">
                    <a:schemeClr val="accent4">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BF62-4FA7-9A1B-BA2D9949FA40}"/>
              </c:ext>
            </c:extLst>
          </c:dPt>
          <c:dPt>
            <c:idx val="1"/>
            <c:bubble3D val="0"/>
            <c:spPr>
              <a:gradFill rotWithShape="1">
                <a:gsLst>
                  <a:gs pos="0">
                    <a:schemeClr val="accent4">
                      <a:tint val="77000"/>
                      <a:satMod val="103000"/>
                      <a:lumMod val="102000"/>
                      <a:tint val="94000"/>
                    </a:schemeClr>
                  </a:gs>
                  <a:gs pos="50000">
                    <a:schemeClr val="accent4">
                      <a:tint val="77000"/>
                      <a:satMod val="110000"/>
                      <a:lumMod val="100000"/>
                      <a:shade val="100000"/>
                    </a:schemeClr>
                  </a:gs>
                  <a:gs pos="100000">
                    <a:schemeClr val="accent4">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BF62-4FA7-9A1B-BA2D9949FA40}"/>
              </c:ext>
            </c:extLst>
          </c:dPt>
          <c:dLbls>
            <c:dLbl>
              <c:idx val="1"/>
              <c:layout>
                <c:manualLayout>
                  <c:x val="0.10551965509083475"/>
                  <c:y val="0.14074238643417469"/>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F62-4FA7-9A1B-BA2D9949FA40}"/>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Sheet1!$R$4:$R$5</c:f>
              <c:strCache>
                <c:ptCount val="2"/>
                <c:pt idx="0">
                  <c:v>Within 20 Day</c:v>
                </c:pt>
                <c:pt idx="1">
                  <c:v>More Than 20 Day</c:v>
                </c:pt>
              </c:strCache>
            </c:strRef>
          </c:cat>
          <c:val>
            <c:numRef>
              <c:f>Sheet1!$S$4:$S$5</c:f>
              <c:numCache>
                <c:formatCode>0%</c:formatCode>
                <c:ptCount val="2"/>
                <c:pt idx="0">
                  <c:v>0.87043678351541287</c:v>
                </c:pt>
                <c:pt idx="1">
                  <c:v>0.12956321648458716</c:v>
                </c:pt>
              </c:numCache>
            </c:numRef>
          </c:val>
          <c:extLst>
            <c:ext xmlns:c16="http://schemas.microsoft.com/office/drawing/2014/chart" uri="{C3380CC4-5D6E-409C-BE32-E72D297353CC}">
              <c16:uniqueId val="{00000004-BF62-4FA7-9A1B-BA2D9949FA40}"/>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[order_items.xlsx]Sheet3!PivotTable4</c:name>
    <c:fmtId val="57"/>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sz="1500" b="1">
                <a:solidFill>
                  <a:schemeClr val="bg1">
                    <a:lumMod val="50000"/>
                  </a:schemeClr>
                </a:solidFill>
                <a:latin typeface="+mn-lt"/>
              </a:rPr>
              <a:t>Top 10</a:t>
            </a:r>
            <a:r>
              <a:rPr lang="ar-JO" sz="1500" b="1">
                <a:solidFill>
                  <a:schemeClr val="bg1">
                    <a:lumMod val="50000"/>
                  </a:schemeClr>
                </a:solidFill>
                <a:latin typeface="+mn-lt"/>
              </a:rPr>
              <a:t> </a:t>
            </a:r>
            <a:r>
              <a:rPr lang="en-US" sz="1500" b="1">
                <a:solidFill>
                  <a:schemeClr val="bg1">
                    <a:lumMod val="50000"/>
                  </a:schemeClr>
                </a:solidFill>
                <a:latin typeface="+mn-lt"/>
              </a:rPr>
              <a:t>Selling Product Category  </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4">
              <a:alpha val="85000"/>
            </a:schemeClr>
          </a:solidFill>
          <a:ln w="9525" cap="flat" cmpd="sng" algn="ctr">
            <a:solidFill>
              <a:srgbClr val="474AD9">
                <a:alpha val="51000"/>
              </a:srgb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4">
              <a:shade val="42000"/>
              <a:alpha val="85000"/>
            </a:schemeClr>
          </a:solidFill>
          <a:ln w="9525" cap="flat" cmpd="sng" algn="ctr">
            <a:solidFill>
              <a:srgbClr val="474AD9">
                <a:alpha val="51000"/>
              </a:srgbClr>
            </a:solidFill>
            <a:round/>
          </a:ln>
          <a:effectLst/>
        </c:spPr>
        <c:dLbl>
          <c:idx val="0"/>
          <c:layout>
            <c:manualLayout>
              <c:x val="-0.15839404485927661"/>
              <c:y val="2.2394962030176985E-7"/>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78DF4927-E296-4864-94E7-8CA0BAC4CF93}" type="VALUE">
                  <a:rPr lang="en-US"/>
                  <a:pPr>
                    <a:defRPr sz="900" b="1" i="0" u="none" strike="noStrike" kern="1200" baseline="0">
                      <a:solidFill>
                        <a:schemeClr val="lt1"/>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919537153719434"/>
                  <c:h val="7.4289723059491095E-2"/>
                </c:manualLayout>
              </c15:layout>
              <c15:dlblFieldTable/>
              <c15:showDataLabelsRange val="0"/>
            </c:ext>
          </c:extLst>
        </c:dLbl>
      </c:pivotFmt>
      <c:pivotFmt>
        <c:idx val="2"/>
        <c:spPr>
          <a:solidFill>
            <a:schemeClr val="accent4">
              <a:shade val="55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3"/>
        <c:spPr>
          <a:solidFill>
            <a:schemeClr val="accent4">
              <a:shade val="68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4"/>
        <c:spPr>
          <a:solidFill>
            <a:schemeClr val="accent4">
              <a:shade val="80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106707923281303"/>
                  <c:h val="7.8611800843612911E-2"/>
                </c:manualLayout>
              </c15:layout>
            </c:ext>
          </c:extLst>
        </c:dLbl>
      </c:pivotFmt>
      <c:pivotFmt>
        <c:idx val="5"/>
        <c:spPr>
          <a:solidFill>
            <a:schemeClr val="accent4">
              <a:shade val="9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0235046087757222"/>
                  <c:h val="7.8611800843612911E-2"/>
                </c:manualLayout>
              </c15:layout>
            </c:ext>
          </c:extLst>
        </c:dLbl>
      </c:pivotFmt>
      <c:pivotFmt>
        <c:idx val="6"/>
        <c:spPr>
          <a:solidFill>
            <a:schemeClr val="accent4">
              <a:tint val="94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7"/>
        <c:spPr>
          <a:solidFill>
            <a:schemeClr val="accent4">
              <a:tint val="81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8"/>
        <c:spPr>
          <a:solidFill>
            <a:schemeClr val="accent4">
              <a:tint val="4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9"/>
        <c:spPr>
          <a:solidFill>
            <a:schemeClr val="accent4">
              <a:tint val="56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10"/>
        <c:spPr>
          <a:solidFill>
            <a:schemeClr val="accent4">
              <a:tint val="69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578780927310768"/>
                  <c:h val="7.8611800843612911E-2"/>
                </c:manualLayout>
              </c15:layout>
            </c:ext>
          </c:extLst>
        </c:dLbl>
      </c:pivotFmt>
      <c:pivotFmt>
        <c:idx val="11"/>
        <c:spPr>
          <a:solidFill>
            <a:schemeClr val="accent4">
              <a:alpha val="85000"/>
            </a:schemeClr>
          </a:solidFill>
          <a:ln w="9525" cap="flat" cmpd="sng" algn="ctr">
            <a:solidFill>
              <a:srgbClr val="474AD9">
                <a:alpha val="51000"/>
              </a:srgb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4">
              <a:tint val="4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13"/>
        <c:spPr>
          <a:solidFill>
            <a:schemeClr val="accent4">
              <a:tint val="56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14"/>
        <c:spPr>
          <a:solidFill>
            <a:schemeClr val="accent4">
              <a:tint val="69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578780927310768"/>
                  <c:h val="7.8611800843612911E-2"/>
                </c:manualLayout>
              </c15:layout>
            </c:ext>
          </c:extLst>
        </c:dLbl>
      </c:pivotFmt>
      <c:pivotFmt>
        <c:idx val="15"/>
        <c:spPr>
          <a:solidFill>
            <a:schemeClr val="accent4">
              <a:tint val="81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16"/>
        <c:spPr>
          <a:solidFill>
            <a:schemeClr val="accent4">
              <a:tint val="94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17"/>
        <c:spPr>
          <a:solidFill>
            <a:schemeClr val="accent4">
              <a:shade val="9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0235046087757222"/>
                  <c:h val="7.8611800843612911E-2"/>
                </c:manualLayout>
              </c15:layout>
            </c:ext>
          </c:extLst>
        </c:dLbl>
      </c:pivotFmt>
      <c:pivotFmt>
        <c:idx val="18"/>
        <c:spPr>
          <a:solidFill>
            <a:schemeClr val="accent4">
              <a:shade val="80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106707923281303"/>
                  <c:h val="7.8611800843612911E-2"/>
                </c:manualLayout>
              </c15:layout>
            </c:ext>
          </c:extLst>
        </c:dLbl>
      </c:pivotFmt>
      <c:pivotFmt>
        <c:idx val="19"/>
        <c:spPr>
          <a:solidFill>
            <a:schemeClr val="accent4">
              <a:shade val="68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20"/>
        <c:spPr>
          <a:solidFill>
            <a:schemeClr val="accent4">
              <a:shade val="55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21"/>
        <c:spPr>
          <a:solidFill>
            <a:schemeClr val="accent4">
              <a:shade val="42000"/>
              <a:alpha val="85000"/>
            </a:schemeClr>
          </a:solidFill>
          <a:ln w="9525" cap="flat" cmpd="sng" algn="ctr">
            <a:solidFill>
              <a:srgbClr val="474AD9">
                <a:alpha val="51000"/>
              </a:srgbClr>
            </a:solidFill>
            <a:round/>
          </a:ln>
          <a:effectLst/>
        </c:spPr>
        <c:dLbl>
          <c:idx val="0"/>
          <c:layout>
            <c:manualLayout>
              <c:x val="-0.15839404485927661"/>
              <c:y val="2.2394962030176985E-7"/>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78DF4927-E296-4864-94E7-8CA0BAC4CF93}" type="VALUE">
                  <a:rPr lang="en-US"/>
                  <a:pPr>
                    <a:defRPr sz="900" b="1" i="0" u="none" strike="noStrike" kern="1200" baseline="0">
                      <a:solidFill>
                        <a:schemeClr val="lt1"/>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919537153719434"/>
                  <c:h val="7.4289723059491095E-2"/>
                </c:manualLayout>
              </c15:layout>
              <c15:dlblFieldTable/>
              <c15:showDataLabelsRange val="0"/>
            </c:ext>
          </c:extLst>
        </c:dLbl>
      </c:pivotFmt>
      <c:pivotFmt>
        <c:idx val="22"/>
        <c:spPr>
          <a:solidFill>
            <a:schemeClr val="accent4">
              <a:alpha val="85000"/>
            </a:schemeClr>
          </a:solidFill>
          <a:ln w="9525" cap="flat" cmpd="sng" algn="ctr">
            <a:solidFill>
              <a:srgbClr val="474AD9">
                <a:alpha val="51000"/>
              </a:srgb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4">
              <a:tint val="4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24"/>
        <c:spPr>
          <a:solidFill>
            <a:schemeClr val="accent4">
              <a:tint val="56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Lst>
        </c:dLbl>
      </c:pivotFmt>
      <c:pivotFmt>
        <c:idx val="25"/>
        <c:spPr>
          <a:solidFill>
            <a:schemeClr val="accent4">
              <a:tint val="69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3578780927310768"/>
                  <c:h val="7.8611800843612911E-2"/>
                </c:manualLayout>
              </c15:layout>
            </c:ext>
          </c:extLst>
        </c:dLbl>
      </c:pivotFmt>
      <c:pivotFmt>
        <c:idx val="26"/>
        <c:spPr>
          <a:solidFill>
            <a:schemeClr val="accent4">
              <a:tint val="81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27"/>
        <c:spPr>
          <a:solidFill>
            <a:schemeClr val="accent4">
              <a:tint val="94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28"/>
        <c:spPr>
          <a:solidFill>
            <a:schemeClr val="accent4">
              <a:shade val="93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0235046087757222"/>
                  <c:h val="7.8611800843612911E-2"/>
                </c:manualLayout>
              </c15:layout>
            </c:ext>
          </c:extLst>
        </c:dLbl>
      </c:pivotFmt>
      <c:pivotFmt>
        <c:idx val="29"/>
        <c:spPr>
          <a:solidFill>
            <a:schemeClr val="accent4">
              <a:shade val="80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2106707923281303"/>
                  <c:h val="7.8611800843612911E-2"/>
                </c:manualLayout>
              </c15:layout>
            </c:ext>
          </c:extLst>
        </c:dLbl>
      </c:pivotFmt>
      <c:pivotFmt>
        <c:idx val="30"/>
        <c:spPr>
          <a:solidFill>
            <a:schemeClr val="accent4">
              <a:shade val="68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Lst>
        </c:dLbl>
      </c:pivotFmt>
      <c:pivotFmt>
        <c:idx val="31"/>
        <c:spPr>
          <a:solidFill>
            <a:schemeClr val="accent4">
              <a:shade val="55000"/>
              <a:alpha val="85000"/>
            </a:schemeClr>
          </a:solidFill>
          <a:ln w="9525" cap="flat" cmpd="sng" algn="ctr">
            <a:solidFill>
              <a:srgbClr val="474AD9">
                <a:alpha val="51000"/>
              </a:srgbClr>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Lst>
        </c:dLbl>
      </c:pivotFmt>
      <c:pivotFmt>
        <c:idx val="32"/>
        <c:spPr>
          <a:solidFill>
            <a:schemeClr val="accent4">
              <a:shade val="42000"/>
              <a:alpha val="85000"/>
            </a:schemeClr>
          </a:solidFill>
          <a:ln w="9525" cap="flat" cmpd="sng" algn="ctr">
            <a:solidFill>
              <a:srgbClr val="474AD9">
                <a:alpha val="51000"/>
              </a:srgbClr>
            </a:solidFill>
            <a:round/>
          </a:ln>
          <a:effectLst/>
        </c:spPr>
        <c:dLbl>
          <c:idx val="0"/>
          <c:layout>
            <c:manualLayout>
              <c:x val="-0.15839404485927661"/>
              <c:y val="2.2394962030176985E-7"/>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78DF4927-E296-4864-94E7-8CA0BAC4CF93}" type="VALUE">
                  <a:rPr lang="en-US"/>
                  <a:pPr>
                    <a:defRPr sz="900" b="1" i="0" u="none" strike="noStrike" kern="1200" baseline="0">
                      <a:solidFill>
                        <a:schemeClr val="lt1"/>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919537153719434"/>
                  <c:h val="7.4289723059491095E-2"/>
                </c:manualLayout>
              </c15:layout>
              <c15:dlblFieldTable/>
              <c15:showDataLabelsRange val="0"/>
            </c:ext>
          </c:extLst>
        </c:dLbl>
      </c:pivotFmt>
    </c:pivotFmts>
    <c:plotArea>
      <c:layout>
        <c:manualLayout>
          <c:layoutTarget val="inner"/>
          <c:xMode val="edge"/>
          <c:yMode val="edge"/>
          <c:x val="0.47778111937396717"/>
          <c:y val="0.29942129629629627"/>
          <c:w val="0.52221888062603283"/>
          <c:h val="0.63692129629629635"/>
        </c:manualLayout>
      </c:layout>
      <c:barChart>
        <c:barDir val="bar"/>
        <c:grouping val="clustered"/>
        <c:varyColors val="1"/>
        <c:ser>
          <c:idx val="0"/>
          <c:order val="0"/>
          <c:tx>
            <c:strRef>
              <c:f>Sheet3!$C$1</c:f>
              <c:strCache>
                <c:ptCount val="1"/>
                <c:pt idx="0">
                  <c:v>Total</c:v>
                </c:pt>
              </c:strCache>
            </c:strRef>
          </c:tx>
          <c:spPr>
            <a:ln>
              <a:solidFill>
                <a:srgbClr val="474AD9">
                  <a:alpha val="51000"/>
                </a:srgbClr>
              </a:solidFill>
            </a:ln>
          </c:spPr>
          <c:invertIfNegative val="0"/>
          <c:dPt>
            <c:idx val="0"/>
            <c:invertIfNegative val="0"/>
            <c:bubble3D val="0"/>
            <c:spPr>
              <a:solidFill>
                <a:schemeClr val="accent4">
                  <a:tint val="43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1-8EBC-48B6-832D-A9A5AA176D33}"/>
              </c:ext>
            </c:extLst>
          </c:dPt>
          <c:dPt>
            <c:idx val="1"/>
            <c:invertIfNegative val="0"/>
            <c:bubble3D val="0"/>
            <c:spPr>
              <a:solidFill>
                <a:schemeClr val="accent4">
                  <a:tint val="56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3-8EBC-48B6-832D-A9A5AA176D33}"/>
              </c:ext>
            </c:extLst>
          </c:dPt>
          <c:dPt>
            <c:idx val="2"/>
            <c:invertIfNegative val="0"/>
            <c:bubble3D val="0"/>
            <c:spPr>
              <a:solidFill>
                <a:schemeClr val="accent4">
                  <a:tint val="69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5-8EBC-48B6-832D-A9A5AA176D33}"/>
              </c:ext>
            </c:extLst>
          </c:dPt>
          <c:dPt>
            <c:idx val="3"/>
            <c:invertIfNegative val="0"/>
            <c:bubble3D val="0"/>
            <c:spPr>
              <a:solidFill>
                <a:schemeClr val="accent4">
                  <a:tint val="81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7-8EBC-48B6-832D-A9A5AA176D33}"/>
              </c:ext>
            </c:extLst>
          </c:dPt>
          <c:dPt>
            <c:idx val="4"/>
            <c:invertIfNegative val="0"/>
            <c:bubble3D val="0"/>
            <c:spPr>
              <a:solidFill>
                <a:schemeClr val="accent4">
                  <a:tint val="94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9-8EBC-48B6-832D-A9A5AA176D33}"/>
              </c:ext>
            </c:extLst>
          </c:dPt>
          <c:dPt>
            <c:idx val="5"/>
            <c:invertIfNegative val="0"/>
            <c:bubble3D val="0"/>
            <c:spPr>
              <a:solidFill>
                <a:schemeClr val="accent4">
                  <a:shade val="93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B-8EBC-48B6-832D-A9A5AA176D33}"/>
              </c:ext>
            </c:extLst>
          </c:dPt>
          <c:dPt>
            <c:idx val="6"/>
            <c:invertIfNegative val="0"/>
            <c:bubble3D val="0"/>
            <c:spPr>
              <a:solidFill>
                <a:schemeClr val="accent4">
                  <a:shade val="80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D-8EBC-48B6-832D-A9A5AA176D33}"/>
              </c:ext>
            </c:extLst>
          </c:dPt>
          <c:dPt>
            <c:idx val="7"/>
            <c:invertIfNegative val="0"/>
            <c:bubble3D val="0"/>
            <c:spPr>
              <a:solidFill>
                <a:schemeClr val="accent4">
                  <a:shade val="68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0F-8EBC-48B6-832D-A9A5AA176D33}"/>
              </c:ext>
            </c:extLst>
          </c:dPt>
          <c:dPt>
            <c:idx val="8"/>
            <c:invertIfNegative val="0"/>
            <c:bubble3D val="0"/>
            <c:spPr>
              <a:solidFill>
                <a:schemeClr val="accent4">
                  <a:shade val="55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11-8EBC-48B6-832D-A9A5AA176D33}"/>
              </c:ext>
            </c:extLst>
          </c:dPt>
          <c:dPt>
            <c:idx val="9"/>
            <c:invertIfNegative val="0"/>
            <c:bubble3D val="0"/>
            <c:spPr>
              <a:solidFill>
                <a:schemeClr val="accent4">
                  <a:shade val="42000"/>
                  <a:alpha val="85000"/>
                </a:schemeClr>
              </a:solidFill>
              <a:ln w="9525" cap="flat" cmpd="sng" algn="ctr">
                <a:solidFill>
                  <a:srgbClr val="474AD9">
                    <a:alpha val="51000"/>
                  </a:srgbClr>
                </a:solidFill>
                <a:round/>
              </a:ln>
              <a:effectLst/>
            </c:spPr>
            <c:extLst>
              <c:ext xmlns:c16="http://schemas.microsoft.com/office/drawing/2014/chart" uri="{C3380CC4-5D6E-409C-BE32-E72D297353CC}">
                <c16:uniqueId val="{00000013-8EBC-48B6-832D-A9A5AA176D33}"/>
              </c:ext>
            </c:extLst>
          </c:dPt>
          <c:dLbls>
            <c:dLbl>
              <c:idx val="0"/>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 xmlns:c16="http://schemas.microsoft.com/office/drawing/2014/chart" uri="{C3380CC4-5D6E-409C-BE32-E72D297353CC}">
                  <c16:uniqueId val="{00000001-8EBC-48B6-832D-A9A5AA176D33}"/>
                </c:ext>
              </c:extLst>
            </c:dLbl>
            <c:dLbl>
              <c:idx val="1"/>
              <c:dLblPos val="inEnd"/>
              <c:showLegendKey val="0"/>
              <c:showVal val="1"/>
              <c:showCatName val="0"/>
              <c:showSerName val="0"/>
              <c:showPercent val="0"/>
              <c:showBubbleSize val="0"/>
              <c:extLst>
                <c:ext xmlns:c15="http://schemas.microsoft.com/office/drawing/2012/chart" uri="{CE6537A1-D6FC-4f65-9D91-7224C49458BB}">
                  <c15:layout>
                    <c:manualLayout>
                      <c:w val="0.13162764354782863"/>
                      <c:h val="7.8611800843612911E-2"/>
                    </c:manualLayout>
                  </c15:layout>
                </c:ext>
                <c:ext xmlns:c16="http://schemas.microsoft.com/office/drawing/2014/chart" uri="{C3380CC4-5D6E-409C-BE32-E72D297353CC}">
                  <c16:uniqueId val="{00000003-8EBC-48B6-832D-A9A5AA176D33}"/>
                </c:ext>
              </c:extLst>
            </c:dLbl>
            <c:dLbl>
              <c:idx val="2"/>
              <c:dLblPos val="inEnd"/>
              <c:showLegendKey val="0"/>
              <c:showVal val="1"/>
              <c:showCatName val="0"/>
              <c:showSerName val="0"/>
              <c:showPercent val="0"/>
              <c:showBubbleSize val="0"/>
              <c:extLst>
                <c:ext xmlns:c15="http://schemas.microsoft.com/office/drawing/2012/chart" uri="{CE6537A1-D6FC-4f65-9D91-7224C49458BB}">
                  <c15:layout>
                    <c:manualLayout>
                      <c:w val="0.13578780927310768"/>
                      <c:h val="7.8611800843612911E-2"/>
                    </c:manualLayout>
                  </c15:layout>
                </c:ext>
                <c:ext xmlns:c16="http://schemas.microsoft.com/office/drawing/2014/chart" uri="{C3380CC4-5D6E-409C-BE32-E72D297353CC}">
                  <c16:uniqueId val="{00000005-8EBC-48B6-832D-A9A5AA176D33}"/>
                </c:ext>
              </c:extLst>
            </c:dLbl>
            <c:dLbl>
              <c:idx val="3"/>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 xmlns:c16="http://schemas.microsoft.com/office/drawing/2014/chart" uri="{C3380CC4-5D6E-409C-BE32-E72D297353CC}">
                  <c16:uniqueId val="{00000007-8EBC-48B6-832D-A9A5AA176D33}"/>
                </c:ext>
              </c:extLst>
            </c:dLbl>
            <c:dLbl>
              <c:idx val="4"/>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 xmlns:c16="http://schemas.microsoft.com/office/drawing/2014/chart" uri="{C3380CC4-5D6E-409C-BE32-E72D297353CC}">
                  <c16:uniqueId val="{00000009-8EBC-48B6-832D-A9A5AA176D33}"/>
                </c:ext>
              </c:extLst>
            </c:dLbl>
            <c:dLbl>
              <c:idx val="5"/>
              <c:dLblPos val="inEnd"/>
              <c:showLegendKey val="0"/>
              <c:showVal val="1"/>
              <c:showCatName val="0"/>
              <c:showSerName val="0"/>
              <c:showPercent val="0"/>
              <c:showBubbleSize val="0"/>
              <c:extLst>
                <c:ext xmlns:c15="http://schemas.microsoft.com/office/drawing/2012/chart" uri="{CE6537A1-D6FC-4f65-9D91-7224C49458BB}">
                  <c15:layout>
                    <c:manualLayout>
                      <c:w val="0.20235046087757222"/>
                      <c:h val="7.8611800843612911E-2"/>
                    </c:manualLayout>
                  </c15:layout>
                </c:ext>
                <c:ext xmlns:c16="http://schemas.microsoft.com/office/drawing/2014/chart" uri="{C3380CC4-5D6E-409C-BE32-E72D297353CC}">
                  <c16:uniqueId val="{0000000B-8EBC-48B6-832D-A9A5AA176D33}"/>
                </c:ext>
              </c:extLst>
            </c:dLbl>
            <c:dLbl>
              <c:idx val="6"/>
              <c:dLblPos val="inEnd"/>
              <c:showLegendKey val="0"/>
              <c:showVal val="1"/>
              <c:showCatName val="0"/>
              <c:showSerName val="0"/>
              <c:showPercent val="0"/>
              <c:showBubbleSize val="0"/>
              <c:extLst>
                <c:ext xmlns:c15="http://schemas.microsoft.com/office/drawing/2012/chart" uri="{CE6537A1-D6FC-4f65-9D91-7224C49458BB}">
                  <c15:layout>
                    <c:manualLayout>
                      <c:w val="0.2106707923281303"/>
                      <c:h val="7.8611800843612911E-2"/>
                    </c:manualLayout>
                  </c15:layout>
                </c:ext>
                <c:ext xmlns:c16="http://schemas.microsoft.com/office/drawing/2014/chart" uri="{C3380CC4-5D6E-409C-BE32-E72D297353CC}">
                  <c16:uniqueId val="{0000000D-8EBC-48B6-832D-A9A5AA176D33}"/>
                </c:ext>
              </c:extLst>
            </c:dLbl>
            <c:dLbl>
              <c:idx val="7"/>
              <c:dLblPos val="inEnd"/>
              <c:showLegendKey val="0"/>
              <c:showVal val="1"/>
              <c:showCatName val="0"/>
              <c:showSerName val="0"/>
              <c:showPercent val="0"/>
              <c:showBubbleSize val="0"/>
              <c:extLst>
                <c:ext xmlns:c15="http://schemas.microsoft.com/office/drawing/2012/chart" uri="{CE6537A1-D6FC-4f65-9D91-7224C49458BB}">
                  <c15:layout>
                    <c:manualLayout>
                      <c:w val="0.16074880362478186"/>
                      <c:h val="7.8611800843612911E-2"/>
                    </c:manualLayout>
                  </c15:layout>
                </c:ext>
                <c:ext xmlns:c16="http://schemas.microsoft.com/office/drawing/2014/chart" uri="{C3380CC4-5D6E-409C-BE32-E72D297353CC}">
                  <c16:uniqueId val="{0000000F-8EBC-48B6-832D-A9A5AA176D33}"/>
                </c:ext>
              </c:extLst>
            </c:dLbl>
            <c:dLbl>
              <c:idx val="8"/>
              <c:dLblPos val="inEnd"/>
              <c:showLegendKey val="0"/>
              <c:showVal val="1"/>
              <c:showCatName val="0"/>
              <c:showSerName val="0"/>
              <c:showPercent val="0"/>
              <c:showBubbleSize val="0"/>
              <c:extLst>
                <c:ext xmlns:c15="http://schemas.microsoft.com/office/drawing/2012/chart" uri="{CE6537A1-D6FC-4f65-9D91-7224C49458BB}">
                  <c15:layout>
                    <c:manualLayout>
                      <c:w val="0.14826830644894479"/>
                      <c:h val="7.8611800843612911E-2"/>
                    </c:manualLayout>
                  </c15:layout>
                </c:ext>
                <c:ext xmlns:c16="http://schemas.microsoft.com/office/drawing/2014/chart" uri="{C3380CC4-5D6E-409C-BE32-E72D297353CC}">
                  <c16:uniqueId val="{00000011-8EBC-48B6-832D-A9A5AA176D33}"/>
                </c:ext>
              </c:extLst>
            </c:dLbl>
            <c:dLbl>
              <c:idx val="9"/>
              <c:layout>
                <c:manualLayout>
                  <c:x val="-0.15839404485927661"/>
                  <c:y val="2.2394962030176985E-7"/>
                </c:manualLayout>
              </c:layout>
              <c:tx>
                <c:rich>
                  <a:bodyPr/>
                  <a:lstStyle/>
                  <a:p>
                    <a:fld id="{78DF4927-E296-4864-94E7-8CA0BAC4CF93}" type="VALUE">
                      <a:rPr lang="en-US"/>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layout>
                    <c:manualLayout>
                      <c:w val="0.17919537153719434"/>
                      <c:h val="7.4289723059491095E-2"/>
                    </c:manualLayout>
                  </c15:layout>
                  <c15:dlblFieldTable/>
                  <c15:showDataLabelsRange val="0"/>
                </c:ext>
                <c:ext xmlns:c16="http://schemas.microsoft.com/office/drawing/2014/chart" uri="{C3380CC4-5D6E-409C-BE32-E72D297353CC}">
                  <c16:uniqueId val="{00000013-8EBC-48B6-832D-A9A5AA176D3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Sheet3!$B$2:$B$11</c:f>
              <c:strCache>
                <c:ptCount val="10"/>
                <c:pt idx="0">
                  <c:v>auto</c:v>
                </c:pt>
                <c:pt idx="1">
                  <c:v>garden tools</c:v>
                </c:pt>
                <c:pt idx="2">
                  <c:v>telephony</c:v>
                </c:pt>
                <c:pt idx="3">
                  <c:v>watches gifts</c:v>
                </c:pt>
                <c:pt idx="4">
                  <c:v>housewares</c:v>
                </c:pt>
                <c:pt idx="5">
                  <c:v>computers accessories</c:v>
                </c:pt>
                <c:pt idx="6">
                  <c:v>furniture decor</c:v>
                </c:pt>
                <c:pt idx="7">
                  <c:v>sports leisure</c:v>
                </c:pt>
                <c:pt idx="8">
                  <c:v>health beauty</c:v>
                </c:pt>
                <c:pt idx="9">
                  <c:v>bed bath table</c:v>
                </c:pt>
              </c:strCache>
            </c:strRef>
          </c:cat>
          <c:val>
            <c:numRef>
              <c:f>Sheet3!$C$2:$C$11</c:f>
              <c:numCache>
                <c:formatCode>[&gt;=1000000]#,,\ "M";[&gt;=1000]#," K";0</c:formatCode>
                <c:ptCount val="10"/>
                <c:pt idx="0">
                  <c:v>4140</c:v>
                </c:pt>
                <c:pt idx="1">
                  <c:v>4268</c:v>
                </c:pt>
                <c:pt idx="2">
                  <c:v>4430</c:v>
                </c:pt>
                <c:pt idx="3">
                  <c:v>5859</c:v>
                </c:pt>
                <c:pt idx="4">
                  <c:v>6795</c:v>
                </c:pt>
                <c:pt idx="5">
                  <c:v>7644</c:v>
                </c:pt>
                <c:pt idx="6">
                  <c:v>8160</c:v>
                </c:pt>
                <c:pt idx="7">
                  <c:v>8431</c:v>
                </c:pt>
                <c:pt idx="8">
                  <c:v>9465</c:v>
                </c:pt>
                <c:pt idx="9">
                  <c:v>10953</c:v>
                </c:pt>
              </c:numCache>
            </c:numRef>
          </c:val>
          <c:extLst>
            <c:ext xmlns:c16="http://schemas.microsoft.com/office/drawing/2014/chart" uri="{C3380CC4-5D6E-409C-BE32-E72D297353CC}">
              <c16:uniqueId val="{00000014-8EBC-48B6-832D-A9A5AA176D33}"/>
            </c:ext>
          </c:extLst>
        </c:ser>
        <c:dLbls>
          <c:dLblPos val="inEnd"/>
          <c:showLegendKey val="0"/>
          <c:showVal val="1"/>
          <c:showCatName val="0"/>
          <c:showSerName val="0"/>
          <c:showPercent val="0"/>
          <c:showBubbleSize val="0"/>
        </c:dLbls>
        <c:gapWidth val="65"/>
        <c:axId val="763537903"/>
        <c:axId val="763539823"/>
      </c:barChart>
      <c:catAx>
        <c:axId val="763537903"/>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763539823"/>
        <c:crosses val="autoZero"/>
        <c:auto val="1"/>
        <c:lblAlgn val="ctr"/>
        <c:lblOffset val="100"/>
        <c:noMultiLvlLbl val="0"/>
      </c:catAx>
      <c:valAx>
        <c:axId val="763539823"/>
        <c:scaling>
          <c:orientation val="minMax"/>
        </c:scaling>
        <c:delete val="1"/>
        <c:axPos val="b"/>
        <c:numFmt formatCode="[&gt;=1000000]#,,\ &quot;M&quot;;[&gt;=1000]#,&quot; K&quot;;0" sourceLinked="1"/>
        <c:majorTickMark val="none"/>
        <c:minorTickMark val="none"/>
        <c:tickLblPos val="nextTo"/>
        <c:crossAx val="763537903"/>
        <c:crosses val="autoZero"/>
        <c:crossBetween val="between"/>
      </c:valAx>
      <c:spPr>
        <a:solidFill>
          <a:schemeClr val="bg1"/>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Reversed" id="24">
  <a:schemeClr val="accent4"/>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B29007F-452D-42A6-947C-E0FBD07C75B3}" type="datetimeFigureOut">
              <a:rPr lang="en-US" smtClean="0"/>
              <a:t>3/17/2025</a:t>
            </a:fld>
            <a:endParaRPr lang="en-US"/>
          </a:p>
        </p:txBody>
      </p:sp>
      <p:sp>
        <p:nvSpPr>
          <p:cNvPr id="4" name="Slide Image Placeholder 3"/>
          <p:cNvSpPr>
            <a:spLocks noGrp="1" noRot="1" noChangeAspect="1"/>
          </p:cNvSpPr>
          <p:nvPr>
            <p:ph type="sldImg" idx="2"/>
          </p:nvPr>
        </p:nvSpPr>
        <p:spPr>
          <a:xfrm>
            <a:off x="2257425" y="857250"/>
            <a:ext cx="462915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341639C-6226-4161-9B9F-F1598F6244D2}" type="slidenum">
              <a:rPr lang="en-US" smtClean="0"/>
              <a:t>‹#›</a:t>
            </a:fld>
            <a:endParaRPr lang="en-US"/>
          </a:p>
        </p:txBody>
      </p:sp>
    </p:spTree>
    <p:extLst>
      <p:ext uri="{BB962C8B-B14F-4D97-AF65-F5344CB8AC3E}">
        <p14:creationId xmlns:p14="http://schemas.microsoft.com/office/powerpoint/2010/main" val="1967033262"/>
      </p:ext>
    </p:extLst>
  </p:cSld>
  <p:clrMap bg1="lt1" tx1="dk1" bg2="lt2" tx2="dk2" accent1="accent1" accent2="accent2" accent3="accent3" accent4="accent4" accent5="accent5" accent6="accent6" hlink="hlink" folHlink="folHlink"/>
  <p:notesStyle>
    <a:lvl1pPr marL="0" algn="l" defTabSz="1053389" rtl="0" eaLnBrk="1" latinLnBrk="0" hangingPunct="1">
      <a:defRPr sz="1382" kern="1200">
        <a:solidFill>
          <a:schemeClr val="tx1"/>
        </a:solidFill>
        <a:latin typeface="+mn-lt"/>
        <a:ea typeface="+mn-ea"/>
        <a:cs typeface="+mn-cs"/>
      </a:defRPr>
    </a:lvl1pPr>
    <a:lvl2pPr marL="526694" algn="l" defTabSz="1053389" rtl="0" eaLnBrk="1" latinLnBrk="0" hangingPunct="1">
      <a:defRPr sz="1382" kern="1200">
        <a:solidFill>
          <a:schemeClr val="tx1"/>
        </a:solidFill>
        <a:latin typeface="+mn-lt"/>
        <a:ea typeface="+mn-ea"/>
        <a:cs typeface="+mn-cs"/>
      </a:defRPr>
    </a:lvl2pPr>
    <a:lvl3pPr marL="1053389" algn="l" defTabSz="1053389" rtl="0" eaLnBrk="1" latinLnBrk="0" hangingPunct="1">
      <a:defRPr sz="1382" kern="1200">
        <a:solidFill>
          <a:schemeClr val="tx1"/>
        </a:solidFill>
        <a:latin typeface="+mn-lt"/>
        <a:ea typeface="+mn-ea"/>
        <a:cs typeface="+mn-cs"/>
      </a:defRPr>
    </a:lvl3pPr>
    <a:lvl4pPr marL="1580083" algn="l" defTabSz="1053389" rtl="0" eaLnBrk="1" latinLnBrk="0" hangingPunct="1">
      <a:defRPr sz="1382" kern="1200">
        <a:solidFill>
          <a:schemeClr val="tx1"/>
        </a:solidFill>
        <a:latin typeface="+mn-lt"/>
        <a:ea typeface="+mn-ea"/>
        <a:cs typeface="+mn-cs"/>
      </a:defRPr>
    </a:lvl4pPr>
    <a:lvl5pPr marL="2106778" algn="l" defTabSz="1053389" rtl="0" eaLnBrk="1" latinLnBrk="0" hangingPunct="1">
      <a:defRPr sz="1382" kern="1200">
        <a:solidFill>
          <a:schemeClr val="tx1"/>
        </a:solidFill>
        <a:latin typeface="+mn-lt"/>
        <a:ea typeface="+mn-ea"/>
        <a:cs typeface="+mn-cs"/>
      </a:defRPr>
    </a:lvl5pPr>
    <a:lvl6pPr marL="2633472" algn="l" defTabSz="1053389" rtl="0" eaLnBrk="1" latinLnBrk="0" hangingPunct="1">
      <a:defRPr sz="1382" kern="1200">
        <a:solidFill>
          <a:schemeClr val="tx1"/>
        </a:solidFill>
        <a:latin typeface="+mn-lt"/>
        <a:ea typeface="+mn-ea"/>
        <a:cs typeface="+mn-cs"/>
      </a:defRPr>
    </a:lvl6pPr>
    <a:lvl7pPr marL="3160166" algn="l" defTabSz="1053389" rtl="0" eaLnBrk="1" latinLnBrk="0" hangingPunct="1">
      <a:defRPr sz="1382" kern="1200">
        <a:solidFill>
          <a:schemeClr val="tx1"/>
        </a:solidFill>
        <a:latin typeface="+mn-lt"/>
        <a:ea typeface="+mn-ea"/>
        <a:cs typeface="+mn-cs"/>
      </a:defRPr>
    </a:lvl7pPr>
    <a:lvl8pPr marL="3686861" algn="l" defTabSz="1053389" rtl="0" eaLnBrk="1" latinLnBrk="0" hangingPunct="1">
      <a:defRPr sz="1382" kern="1200">
        <a:solidFill>
          <a:schemeClr val="tx1"/>
        </a:solidFill>
        <a:latin typeface="+mn-lt"/>
        <a:ea typeface="+mn-ea"/>
        <a:cs typeface="+mn-cs"/>
      </a:defRPr>
    </a:lvl8pPr>
    <a:lvl9pPr marL="4213555" algn="l" defTabSz="1053389" rtl="0" eaLnBrk="1" latinLnBrk="0" hangingPunct="1">
      <a:defRPr sz="138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41639C-6226-4161-9B9F-F1598F6244D2}" type="slidenum">
              <a:rPr lang="en-US" smtClean="0"/>
              <a:t>1</a:t>
            </a:fld>
            <a:endParaRPr lang="en-US"/>
          </a:p>
        </p:txBody>
      </p:sp>
    </p:spTree>
    <p:extLst>
      <p:ext uri="{BB962C8B-B14F-4D97-AF65-F5344CB8AC3E}">
        <p14:creationId xmlns:p14="http://schemas.microsoft.com/office/powerpoint/2010/main" val="1436676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197195"/>
            <a:ext cx="10972800" cy="2546773"/>
          </a:xfrm>
        </p:spPr>
        <p:txBody>
          <a:bodyPr anchor="b"/>
          <a:lstStyle>
            <a:lvl1pPr algn="ctr">
              <a:defRPr sz="6400"/>
            </a:lvl1pPr>
          </a:lstStyle>
          <a:p>
            <a:r>
              <a:rPr lang="en-US"/>
              <a:t>Click to edit Master title style</a:t>
            </a:r>
            <a:endParaRPr lang="en-US" dirty="0"/>
          </a:p>
        </p:txBody>
      </p:sp>
      <p:sp>
        <p:nvSpPr>
          <p:cNvPr id="3" name="Subtitle 2"/>
          <p:cNvSpPr>
            <a:spLocks noGrp="1"/>
          </p:cNvSpPr>
          <p:nvPr>
            <p:ph type="subTitle" idx="1"/>
          </p:nvPr>
        </p:nvSpPr>
        <p:spPr>
          <a:xfrm>
            <a:off x="1828800" y="3842174"/>
            <a:ext cx="10972800" cy="1766146"/>
          </a:xfrm>
        </p:spPr>
        <p:txBody>
          <a:bodyPr/>
          <a:lstStyle>
            <a:lvl1pPr marL="0" indent="0" algn="ctr">
              <a:buNone/>
              <a:defRPr sz="2561"/>
            </a:lvl1pPr>
            <a:lvl2pPr marL="487701" indent="0" algn="ctr">
              <a:buNone/>
              <a:defRPr sz="2133"/>
            </a:lvl2pPr>
            <a:lvl3pPr marL="975402" indent="0" algn="ctr">
              <a:buNone/>
              <a:defRPr sz="1920"/>
            </a:lvl3pPr>
            <a:lvl4pPr marL="1463104" indent="0" algn="ctr">
              <a:buNone/>
              <a:defRPr sz="1707"/>
            </a:lvl4pPr>
            <a:lvl5pPr marL="1950805" indent="0" algn="ctr">
              <a:buNone/>
              <a:defRPr sz="1707"/>
            </a:lvl5pPr>
            <a:lvl6pPr marL="2438506" indent="0" algn="ctr">
              <a:buNone/>
              <a:defRPr sz="1707"/>
            </a:lvl6pPr>
            <a:lvl7pPr marL="2926207" indent="0" algn="ctr">
              <a:buNone/>
              <a:defRPr sz="1707"/>
            </a:lvl7pPr>
            <a:lvl8pPr marL="3413909" indent="0" algn="ctr">
              <a:buNone/>
              <a:defRPr sz="1707"/>
            </a:lvl8pPr>
            <a:lvl9pPr marL="3901610" indent="0" algn="ctr">
              <a:buNone/>
              <a:defRPr sz="170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E71DF2-6783-4971-B480-271EDE776A4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2113832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71DF2-6783-4971-B480-271EDE776A4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219289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1823729"/>
            <a:ext cx="12618720" cy="3042919"/>
          </a:xfrm>
        </p:spPr>
        <p:txBody>
          <a:bodyPr anchor="b"/>
          <a:lstStyle>
            <a:lvl1pPr>
              <a:defRPr sz="6400"/>
            </a:lvl1pPr>
          </a:lstStyle>
          <a:p>
            <a:r>
              <a:rPr lang="en-US"/>
              <a:t>Click to edit Master title style</a:t>
            </a:r>
            <a:endParaRPr lang="en-US" dirty="0"/>
          </a:p>
        </p:txBody>
      </p:sp>
      <p:sp>
        <p:nvSpPr>
          <p:cNvPr id="3" name="Text Placeholder 2"/>
          <p:cNvSpPr>
            <a:spLocks noGrp="1"/>
          </p:cNvSpPr>
          <p:nvPr>
            <p:ph type="body" idx="1"/>
          </p:nvPr>
        </p:nvSpPr>
        <p:spPr>
          <a:xfrm>
            <a:off x="998220" y="4895436"/>
            <a:ext cx="12618720" cy="1600199"/>
          </a:xfrm>
        </p:spPr>
        <p:txBody>
          <a:bodyPr/>
          <a:lstStyle>
            <a:lvl1pPr marL="0" indent="0">
              <a:buNone/>
              <a:defRPr sz="2561">
                <a:solidFill>
                  <a:schemeClr val="tx1">
                    <a:tint val="82000"/>
                  </a:schemeClr>
                </a:solidFill>
              </a:defRPr>
            </a:lvl1pPr>
            <a:lvl2pPr marL="487701" indent="0">
              <a:buNone/>
              <a:defRPr sz="2133">
                <a:solidFill>
                  <a:schemeClr val="tx1">
                    <a:tint val="82000"/>
                  </a:schemeClr>
                </a:solidFill>
              </a:defRPr>
            </a:lvl2pPr>
            <a:lvl3pPr marL="975402" indent="0">
              <a:buNone/>
              <a:defRPr sz="1920">
                <a:solidFill>
                  <a:schemeClr val="tx1">
                    <a:tint val="82000"/>
                  </a:schemeClr>
                </a:solidFill>
              </a:defRPr>
            </a:lvl3pPr>
            <a:lvl4pPr marL="1463104" indent="0">
              <a:buNone/>
              <a:defRPr sz="1707">
                <a:solidFill>
                  <a:schemeClr val="tx1">
                    <a:tint val="82000"/>
                  </a:schemeClr>
                </a:solidFill>
              </a:defRPr>
            </a:lvl4pPr>
            <a:lvl5pPr marL="1950805" indent="0">
              <a:buNone/>
              <a:defRPr sz="1707">
                <a:solidFill>
                  <a:schemeClr val="tx1">
                    <a:tint val="82000"/>
                  </a:schemeClr>
                </a:solidFill>
              </a:defRPr>
            </a:lvl5pPr>
            <a:lvl6pPr marL="2438506" indent="0">
              <a:buNone/>
              <a:defRPr sz="1707">
                <a:solidFill>
                  <a:schemeClr val="tx1">
                    <a:tint val="82000"/>
                  </a:schemeClr>
                </a:solidFill>
              </a:defRPr>
            </a:lvl6pPr>
            <a:lvl7pPr marL="2926207" indent="0">
              <a:buNone/>
              <a:defRPr sz="1707">
                <a:solidFill>
                  <a:schemeClr val="tx1">
                    <a:tint val="82000"/>
                  </a:schemeClr>
                </a:solidFill>
              </a:defRPr>
            </a:lvl7pPr>
            <a:lvl8pPr marL="3413909" indent="0">
              <a:buNone/>
              <a:defRPr sz="1707">
                <a:solidFill>
                  <a:schemeClr val="tx1">
                    <a:tint val="82000"/>
                  </a:schemeClr>
                </a:solidFill>
              </a:defRPr>
            </a:lvl8pPr>
            <a:lvl9pPr marL="3901610" indent="0">
              <a:buNone/>
              <a:defRPr sz="170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E71DF2-6783-4971-B480-271EDE776A4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270877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1947341"/>
            <a:ext cx="621792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1947341"/>
            <a:ext cx="6217920" cy="46414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E71DF2-6783-4971-B480-271EDE776A4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83022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389467"/>
            <a:ext cx="12618720" cy="1413934"/>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1793249"/>
            <a:ext cx="6189344" cy="878839"/>
          </a:xfrm>
        </p:spPr>
        <p:txBody>
          <a:bodyPr anchor="b"/>
          <a:lstStyle>
            <a:lvl1pPr marL="0" indent="0">
              <a:buNone/>
              <a:defRPr sz="2561" b="1"/>
            </a:lvl1pPr>
            <a:lvl2pPr marL="487701" indent="0">
              <a:buNone/>
              <a:defRPr sz="2133" b="1"/>
            </a:lvl2pPr>
            <a:lvl3pPr marL="975402" indent="0">
              <a:buNone/>
              <a:defRPr sz="1920" b="1"/>
            </a:lvl3pPr>
            <a:lvl4pPr marL="1463104" indent="0">
              <a:buNone/>
              <a:defRPr sz="1707" b="1"/>
            </a:lvl4pPr>
            <a:lvl5pPr marL="1950805" indent="0">
              <a:buNone/>
              <a:defRPr sz="1707" b="1"/>
            </a:lvl5pPr>
            <a:lvl6pPr marL="2438506" indent="0">
              <a:buNone/>
              <a:defRPr sz="1707" b="1"/>
            </a:lvl6pPr>
            <a:lvl7pPr marL="2926207" indent="0">
              <a:buNone/>
              <a:defRPr sz="1707" b="1"/>
            </a:lvl7pPr>
            <a:lvl8pPr marL="3413909" indent="0">
              <a:buNone/>
              <a:defRPr sz="1707" b="1"/>
            </a:lvl8pPr>
            <a:lvl9pPr marL="3901610" indent="0">
              <a:buNone/>
              <a:defRPr sz="1707" b="1"/>
            </a:lvl9pPr>
          </a:lstStyle>
          <a:p>
            <a:pPr lvl="0"/>
            <a:r>
              <a:rPr lang="en-US"/>
              <a:t>Click to edit Master text styles</a:t>
            </a:r>
          </a:p>
        </p:txBody>
      </p:sp>
      <p:sp>
        <p:nvSpPr>
          <p:cNvPr id="4" name="Content Placeholder 3"/>
          <p:cNvSpPr>
            <a:spLocks noGrp="1"/>
          </p:cNvSpPr>
          <p:nvPr>
            <p:ph sz="half" idx="2"/>
          </p:nvPr>
        </p:nvSpPr>
        <p:spPr>
          <a:xfrm>
            <a:off x="1007746" y="2672088"/>
            <a:ext cx="6189344"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1793249"/>
            <a:ext cx="6219826" cy="878839"/>
          </a:xfrm>
        </p:spPr>
        <p:txBody>
          <a:bodyPr anchor="b"/>
          <a:lstStyle>
            <a:lvl1pPr marL="0" indent="0">
              <a:buNone/>
              <a:defRPr sz="2561" b="1"/>
            </a:lvl1pPr>
            <a:lvl2pPr marL="487701" indent="0">
              <a:buNone/>
              <a:defRPr sz="2133" b="1"/>
            </a:lvl2pPr>
            <a:lvl3pPr marL="975402" indent="0">
              <a:buNone/>
              <a:defRPr sz="1920" b="1"/>
            </a:lvl3pPr>
            <a:lvl4pPr marL="1463104" indent="0">
              <a:buNone/>
              <a:defRPr sz="1707" b="1"/>
            </a:lvl4pPr>
            <a:lvl5pPr marL="1950805" indent="0">
              <a:buNone/>
              <a:defRPr sz="1707" b="1"/>
            </a:lvl5pPr>
            <a:lvl6pPr marL="2438506" indent="0">
              <a:buNone/>
              <a:defRPr sz="1707" b="1"/>
            </a:lvl6pPr>
            <a:lvl7pPr marL="2926207" indent="0">
              <a:buNone/>
              <a:defRPr sz="1707" b="1"/>
            </a:lvl7pPr>
            <a:lvl8pPr marL="3413909" indent="0">
              <a:buNone/>
              <a:defRPr sz="1707" b="1"/>
            </a:lvl8pPr>
            <a:lvl9pPr marL="3901610" indent="0">
              <a:buNone/>
              <a:defRPr sz="1707" b="1"/>
            </a:lvl9pPr>
          </a:lstStyle>
          <a:p>
            <a:pPr lvl="0"/>
            <a:r>
              <a:rPr lang="en-US"/>
              <a:t>Click to edit Master text styles</a:t>
            </a:r>
          </a:p>
        </p:txBody>
      </p:sp>
      <p:sp>
        <p:nvSpPr>
          <p:cNvPr id="6" name="Content Placeholder 5"/>
          <p:cNvSpPr>
            <a:spLocks noGrp="1"/>
          </p:cNvSpPr>
          <p:nvPr>
            <p:ph sz="quarter" idx="4"/>
          </p:nvPr>
        </p:nvSpPr>
        <p:spPr>
          <a:xfrm>
            <a:off x="7406640" y="2672088"/>
            <a:ext cx="6219826" cy="39302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E71DF2-6783-4971-B480-271EDE776A44}"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338354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E71DF2-6783-4971-B480-271EDE776A44}"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962791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71DF2-6783-4971-B480-271EDE776A44}"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670827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87680"/>
            <a:ext cx="4718684" cy="1706880"/>
          </a:xfrm>
        </p:spPr>
        <p:txBody>
          <a:bodyPr anchor="b"/>
          <a:lstStyle>
            <a:lvl1pPr>
              <a:defRPr sz="3413"/>
            </a:lvl1pPr>
          </a:lstStyle>
          <a:p>
            <a:r>
              <a:rPr lang="en-US"/>
              <a:t>Click to edit Master title style</a:t>
            </a:r>
            <a:endParaRPr lang="en-US" dirty="0"/>
          </a:p>
        </p:txBody>
      </p:sp>
      <p:sp>
        <p:nvSpPr>
          <p:cNvPr id="3" name="Content Placeholder 2"/>
          <p:cNvSpPr>
            <a:spLocks noGrp="1"/>
          </p:cNvSpPr>
          <p:nvPr>
            <p:ph idx="1"/>
          </p:nvPr>
        </p:nvSpPr>
        <p:spPr>
          <a:xfrm>
            <a:off x="6219826" y="1053262"/>
            <a:ext cx="7406640" cy="5198533"/>
          </a:xfrm>
        </p:spPr>
        <p:txBody>
          <a:bodyPr/>
          <a:lstStyle>
            <a:lvl1pPr>
              <a:defRPr sz="3413"/>
            </a:lvl1pPr>
            <a:lvl2pPr>
              <a:defRPr sz="2987"/>
            </a:lvl2pPr>
            <a:lvl3pPr>
              <a:defRPr sz="2561"/>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194560"/>
            <a:ext cx="4718684" cy="4065694"/>
          </a:xfrm>
        </p:spPr>
        <p:txBody>
          <a:bodyPr/>
          <a:lstStyle>
            <a:lvl1pPr marL="0" indent="0">
              <a:buNone/>
              <a:defRPr sz="1707"/>
            </a:lvl1pPr>
            <a:lvl2pPr marL="487701" indent="0">
              <a:buNone/>
              <a:defRPr sz="1493"/>
            </a:lvl2pPr>
            <a:lvl3pPr marL="975402" indent="0">
              <a:buNone/>
              <a:defRPr sz="1280"/>
            </a:lvl3pPr>
            <a:lvl4pPr marL="1463104" indent="0">
              <a:buNone/>
              <a:defRPr sz="1067"/>
            </a:lvl4pPr>
            <a:lvl5pPr marL="1950805" indent="0">
              <a:buNone/>
              <a:defRPr sz="1067"/>
            </a:lvl5pPr>
            <a:lvl6pPr marL="2438506" indent="0">
              <a:buNone/>
              <a:defRPr sz="1067"/>
            </a:lvl6pPr>
            <a:lvl7pPr marL="2926207" indent="0">
              <a:buNone/>
              <a:defRPr sz="1067"/>
            </a:lvl7pPr>
            <a:lvl8pPr marL="3413909" indent="0">
              <a:buNone/>
              <a:defRPr sz="1067"/>
            </a:lvl8pPr>
            <a:lvl9pPr marL="3901610"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55E71DF2-6783-4971-B480-271EDE776A4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2003913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87680"/>
            <a:ext cx="4718684" cy="1706880"/>
          </a:xfrm>
        </p:spPr>
        <p:txBody>
          <a:bodyPr anchor="b"/>
          <a:lstStyle>
            <a:lvl1pPr>
              <a:defRPr sz="3413"/>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053262"/>
            <a:ext cx="7406640" cy="5198533"/>
          </a:xfrm>
        </p:spPr>
        <p:txBody>
          <a:bodyPr anchor="t"/>
          <a:lstStyle>
            <a:lvl1pPr marL="0" indent="0">
              <a:buNone/>
              <a:defRPr sz="3413"/>
            </a:lvl1pPr>
            <a:lvl2pPr marL="487701" indent="0">
              <a:buNone/>
              <a:defRPr sz="2987"/>
            </a:lvl2pPr>
            <a:lvl3pPr marL="975402" indent="0">
              <a:buNone/>
              <a:defRPr sz="2561"/>
            </a:lvl3pPr>
            <a:lvl4pPr marL="1463104" indent="0">
              <a:buNone/>
              <a:defRPr sz="2133"/>
            </a:lvl4pPr>
            <a:lvl5pPr marL="1950805" indent="0">
              <a:buNone/>
              <a:defRPr sz="2133"/>
            </a:lvl5pPr>
            <a:lvl6pPr marL="2438506" indent="0">
              <a:buNone/>
              <a:defRPr sz="2133"/>
            </a:lvl6pPr>
            <a:lvl7pPr marL="2926207" indent="0">
              <a:buNone/>
              <a:defRPr sz="2133"/>
            </a:lvl7pPr>
            <a:lvl8pPr marL="3413909" indent="0">
              <a:buNone/>
              <a:defRPr sz="2133"/>
            </a:lvl8pPr>
            <a:lvl9pPr marL="3901610"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1007746" y="2194560"/>
            <a:ext cx="4718684" cy="4065694"/>
          </a:xfrm>
        </p:spPr>
        <p:txBody>
          <a:bodyPr/>
          <a:lstStyle>
            <a:lvl1pPr marL="0" indent="0">
              <a:buNone/>
              <a:defRPr sz="1707"/>
            </a:lvl1pPr>
            <a:lvl2pPr marL="487701" indent="0">
              <a:buNone/>
              <a:defRPr sz="1493"/>
            </a:lvl2pPr>
            <a:lvl3pPr marL="975402" indent="0">
              <a:buNone/>
              <a:defRPr sz="1280"/>
            </a:lvl3pPr>
            <a:lvl4pPr marL="1463104" indent="0">
              <a:buNone/>
              <a:defRPr sz="1067"/>
            </a:lvl4pPr>
            <a:lvl5pPr marL="1950805" indent="0">
              <a:buNone/>
              <a:defRPr sz="1067"/>
            </a:lvl5pPr>
            <a:lvl6pPr marL="2438506" indent="0">
              <a:buNone/>
              <a:defRPr sz="1067"/>
            </a:lvl6pPr>
            <a:lvl7pPr marL="2926207" indent="0">
              <a:buNone/>
              <a:defRPr sz="1067"/>
            </a:lvl7pPr>
            <a:lvl8pPr marL="3413909" indent="0">
              <a:buNone/>
              <a:defRPr sz="1067"/>
            </a:lvl8pPr>
            <a:lvl9pPr marL="3901610" indent="0">
              <a:buNone/>
              <a:defRPr sz="1067"/>
            </a:lvl9pPr>
          </a:lstStyle>
          <a:p>
            <a:pPr lvl="0"/>
            <a:r>
              <a:rPr lang="en-US"/>
              <a:t>Click to edit Master text styles</a:t>
            </a:r>
          </a:p>
        </p:txBody>
      </p:sp>
      <p:sp>
        <p:nvSpPr>
          <p:cNvPr id="5" name="Date Placeholder 4"/>
          <p:cNvSpPr>
            <a:spLocks noGrp="1"/>
          </p:cNvSpPr>
          <p:nvPr>
            <p:ph type="dt" sz="half" idx="10"/>
          </p:nvPr>
        </p:nvSpPr>
        <p:spPr/>
        <p:txBody>
          <a:bodyPr/>
          <a:lstStyle/>
          <a:p>
            <a:fld id="{55E71DF2-6783-4971-B480-271EDE776A44}"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2250579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71DF2-6783-4971-B480-271EDE776A4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129492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389467"/>
            <a:ext cx="3154680" cy="619929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389467"/>
            <a:ext cx="9281160" cy="61992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71DF2-6783-4971-B480-271EDE776A44}"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EDDDE-1768-4D98-88F1-E3E95E7E7677}" type="slidenum">
              <a:rPr lang="en-US" smtClean="0"/>
              <a:t>‹#›</a:t>
            </a:fld>
            <a:endParaRPr lang="en-US"/>
          </a:p>
        </p:txBody>
      </p:sp>
    </p:spTree>
    <p:extLst>
      <p:ext uri="{BB962C8B-B14F-4D97-AF65-F5344CB8AC3E}">
        <p14:creationId xmlns:p14="http://schemas.microsoft.com/office/powerpoint/2010/main" val="2887843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389467"/>
            <a:ext cx="12618720" cy="14139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1947341"/>
            <a:ext cx="12618720" cy="46414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6780115"/>
            <a:ext cx="3291840" cy="389467"/>
          </a:xfrm>
          <a:prstGeom prst="rect">
            <a:avLst/>
          </a:prstGeom>
        </p:spPr>
        <p:txBody>
          <a:bodyPr vert="horz" lIns="91440" tIns="45720" rIns="91440" bIns="45720" rtlCol="0" anchor="ctr"/>
          <a:lstStyle>
            <a:lvl1pPr algn="l">
              <a:defRPr sz="1280">
                <a:solidFill>
                  <a:schemeClr val="tx1">
                    <a:tint val="82000"/>
                  </a:schemeClr>
                </a:solidFill>
              </a:defRPr>
            </a:lvl1pPr>
          </a:lstStyle>
          <a:p>
            <a:fld id="{55E71DF2-6783-4971-B480-271EDE776A44}" type="datetimeFigureOut">
              <a:rPr lang="en-US" smtClean="0"/>
              <a:t>3/17/2025</a:t>
            </a:fld>
            <a:endParaRPr lang="en-US"/>
          </a:p>
        </p:txBody>
      </p:sp>
      <p:sp>
        <p:nvSpPr>
          <p:cNvPr id="5" name="Footer Placeholder 4"/>
          <p:cNvSpPr>
            <a:spLocks noGrp="1"/>
          </p:cNvSpPr>
          <p:nvPr>
            <p:ph type="ftr" sz="quarter" idx="3"/>
          </p:nvPr>
        </p:nvSpPr>
        <p:spPr>
          <a:xfrm>
            <a:off x="4846320" y="6780115"/>
            <a:ext cx="4937760" cy="389467"/>
          </a:xfrm>
          <a:prstGeom prst="rect">
            <a:avLst/>
          </a:prstGeom>
        </p:spPr>
        <p:txBody>
          <a:bodyPr vert="horz" lIns="91440" tIns="45720" rIns="91440" bIns="45720" rtlCol="0" anchor="ctr"/>
          <a:lstStyle>
            <a:lvl1pPr algn="ctr">
              <a:defRPr sz="12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0332720" y="6780115"/>
            <a:ext cx="3291840" cy="389467"/>
          </a:xfrm>
          <a:prstGeom prst="rect">
            <a:avLst/>
          </a:prstGeom>
        </p:spPr>
        <p:txBody>
          <a:bodyPr vert="horz" lIns="91440" tIns="45720" rIns="91440" bIns="45720" rtlCol="0" anchor="ctr"/>
          <a:lstStyle>
            <a:lvl1pPr algn="r">
              <a:defRPr sz="1280">
                <a:solidFill>
                  <a:schemeClr val="tx1">
                    <a:tint val="82000"/>
                  </a:schemeClr>
                </a:solidFill>
              </a:defRPr>
            </a:lvl1pPr>
          </a:lstStyle>
          <a:p>
            <a:fld id="{BA0EDDDE-1768-4D98-88F1-E3E95E7E7677}" type="slidenum">
              <a:rPr lang="en-US" smtClean="0"/>
              <a:t>‹#›</a:t>
            </a:fld>
            <a:endParaRPr lang="en-US"/>
          </a:p>
        </p:txBody>
      </p:sp>
    </p:spTree>
    <p:extLst>
      <p:ext uri="{BB962C8B-B14F-4D97-AF65-F5344CB8AC3E}">
        <p14:creationId xmlns:p14="http://schemas.microsoft.com/office/powerpoint/2010/main" val="15029109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75402" rtl="0" eaLnBrk="1" latinLnBrk="0" hangingPunct="1">
        <a:lnSpc>
          <a:spcPct val="90000"/>
        </a:lnSpc>
        <a:spcBef>
          <a:spcPct val="0"/>
        </a:spcBef>
        <a:buNone/>
        <a:defRPr sz="4694" kern="1200">
          <a:solidFill>
            <a:schemeClr val="tx1"/>
          </a:solidFill>
          <a:latin typeface="+mj-lt"/>
          <a:ea typeface="+mj-ea"/>
          <a:cs typeface="+mj-cs"/>
        </a:defRPr>
      </a:lvl1pPr>
    </p:titleStyle>
    <p:bodyStyle>
      <a:lvl1pPr marL="243851" indent="-243851" algn="l" defTabSz="975402"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53" indent="-243851" algn="l" defTabSz="975402" rtl="0" eaLnBrk="1" latinLnBrk="0" hangingPunct="1">
        <a:lnSpc>
          <a:spcPct val="90000"/>
        </a:lnSpc>
        <a:spcBef>
          <a:spcPts val="533"/>
        </a:spcBef>
        <a:buFont typeface="Arial" panose="020B0604020202020204" pitchFamily="34" charset="0"/>
        <a:buChar char="•"/>
        <a:defRPr sz="2561" kern="1200">
          <a:solidFill>
            <a:schemeClr val="tx1"/>
          </a:solidFill>
          <a:latin typeface="+mn-lt"/>
          <a:ea typeface="+mn-ea"/>
          <a:cs typeface="+mn-cs"/>
        </a:defRPr>
      </a:lvl2pPr>
      <a:lvl3pPr marL="1219254" indent="-243851" algn="l" defTabSz="975402"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55"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57"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58"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59"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60"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62" indent="-243851" algn="l" defTabSz="975402"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402" rtl="0" eaLnBrk="1" latinLnBrk="0" hangingPunct="1">
        <a:defRPr sz="1920" kern="1200">
          <a:solidFill>
            <a:schemeClr val="tx1"/>
          </a:solidFill>
          <a:latin typeface="+mn-lt"/>
          <a:ea typeface="+mn-ea"/>
          <a:cs typeface="+mn-cs"/>
        </a:defRPr>
      </a:lvl1pPr>
      <a:lvl2pPr marL="487701" algn="l" defTabSz="975402" rtl="0" eaLnBrk="1" latinLnBrk="0" hangingPunct="1">
        <a:defRPr sz="1920" kern="1200">
          <a:solidFill>
            <a:schemeClr val="tx1"/>
          </a:solidFill>
          <a:latin typeface="+mn-lt"/>
          <a:ea typeface="+mn-ea"/>
          <a:cs typeface="+mn-cs"/>
        </a:defRPr>
      </a:lvl2pPr>
      <a:lvl3pPr marL="975402" algn="l" defTabSz="975402" rtl="0" eaLnBrk="1" latinLnBrk="0" hangingPunct="1">
        <a:defRPr sz="1920" kern="1200">
          <a:solidFill>
            <a:schemeClr val="tx1"/>
          </a:solidFill>
          <a:latin typeface="+mn-lt"/>
          <a:ea typeface="+mn-ea"/>
          <a:cs typeface="+mn-cs"/>
        </a:defRPr>
      </a:lvl3pPr>
      <a:lvl4pPr marL="1463104" algn="l" defTabSz="975402" rtl="0" eaLnBrk="1" latinLnBrk="0" hangingPunct="1">
        <a:defRPr sz="1920" kern="1200">
          <a:solidFill>
            <a:schemeClr val="tx1"/>
          </a:solidFill>
          <a:latin typeface="+mn-lt"/>
          <a:ea typeface="+mn-ea"/>
          <a:cs typeface="+mn-cs"/>
        </a:defRPr>
      </a:lvl4pPr>
      <a:lvl5pPr marL="1950805" algn="l" defTabSz="975402" rtl="0" eaLnBrk="1" latinLnBrk="0" hangingPunct="1">
        <a:defRPr sz="1920" kern="1200">
          <a:solidFill>
            <a:schemeClr val="tx1"/>
          </a:solidFill>
          <a:latin typeface="+mn-lt"/>
          <a:ea typeface="+mn-ea"/>
          <a:cs typeface="+mn-cs"/>
        </a:defRPr>
      </a:lvl5pPr>
      <a:lvl6pPr marL="2438506" algn="l" defTabSz="975402" rtl="0" eaLnBrk="1" latinLnBrk="0" hangingPunct="1">
        <a:defRPr sz="1920" kern="1200">
          <a:solidFill>
            <a:schemeClr val="tx1"/>
          </a:solidFill>
          <a:latin typeface="+mn-lt"/>
          <a:ea typeface="+mn-ea"/>
          <a:cs typeface="+mn-cs"/>
        </a:defRPr>
      </a:lvl6pPr>
      <a:lvl7pPr marL="2926207" algn="l" defTabSz="975402" rtl="0" eaLnBrk="1" latinLnBrk="0" hangingPunct="1">
        <a:defRPr sz="1920" kern="1200">
          <a:solidFill>
            <a:schemeClr val="tx1"/>
          </a:solidFill>
          <a:latin typeface="+mn-lt"/>
          <a:ea typeface="+mn-ea"/>
          <a:cs typeface="+mn-cs"/>
        </a:defRPr>
      </a:lvl7pPr>
      <a:lvl8pPr marL="3413909" algn="l" defTabSz="975402" rtl="0" eaLnBrk="1" latinLnBrk="0" hangingPunct="1">
        <a:defRPr sz="1920" kern="1200">
          <a:solidFill>
            <a:schemeClr val="tx1"/>
          </a:solidFill>
          <a:latin typeface="+mn-lt"/>
          <a:ea typeface="+mn-ea"/>
          <a:cs typeface="+mn-cs"/>
        </a:defRPr>
      </a:lvl8pPr>
      <a:lvl9pPr marL="3901610" algn="l" defTabSz="975402"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chart" Target="../charts/chart1.xml"/><Relationship Id="rId7" Type="http://schemas.openxmlformats.org/officeDocument/2006/relationships/hyperlink" Target="https://public.tableau.com/app/profile/ahmad.assi4356/viz/OlistStoreAnalysis_17406813669460/OlistStoreDashboard"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chart" Target="../charts/chart2.xml"/><Relationship Id="rId10" Type="http://schemas.openxmlformats.org/officeDocument/2006/relationships/image" Target="../media/image1.png"/><Relationship Id="rId4" Type="http://schemas.openxmlformats.org/officeDocument/2006/relationships/hyperlink" Target="https://www.kaggle.com/datasets/olistbr/brazilian-ecommerce/data" TargetMode="External"/><Relationship Id="rId9"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49991F-A859-CDAA-7A11-A56D41EDF009}"/>
              </a:ext>
            </a:extLst>
          </p:cNvPr>
          <p:cNvSpPr txBox="1"/>
          <p:nvPr/>
        </p:nvSpPr>
        <p:spPr>
          <a:xfrm>
            <a:off x="9607" y="0"/>
            <a:ext cx="14620792" cy="430887"/>
          </a:xfrm>
          <a:prstGeom prst="rect">
            <a:avLst/>
          </a:prstGeom>
          <a:noFill/>
        </p:spPr>
        <p:txBody>
          <a:bodyPr wrap="square" rtlCol="0">
            <a:spAutoFit/>
          </a:bodyPr>
          <a:lstStyle/>
          <a:p>
            <a:pPr algn="ctr"/>
            <a:r>
              <a:rPr lang="en-US" sz="2200" b="1" dirty="0">
                <a:solidFill>
                  <a:srgbClr val="3B6AFF"/>
                </a:solidFill>
                <a:latin typeface="Arial Black" panose="020B0A04020102020204" pitchFamily="34" charset="0"/>
              </a:rPr>
              <a:t>Olist E-Commerce Analysis</a:t>
            </a:r>
          </a:p>
        </p:txBody>
      </p:sp>
      <p:sp>
        <p:nvSpPr>
          <p:cNvPr id="4" name="TextBox 3">
            <a:extLst>
              <a:ext uri="{FF2B5EF4-FFF2-40B4-BE49-F238E27FC236}">
                <a16:creationId xmlns:a16="http://schemas.microsoft.com/office/drawing/2014/main" id="{2653E90F-809D-80F6-ECA3-55F4D1F25BC4}"/>
              </a:ext>
            </a:extLst>
          </p:cNvPr>
          <p:cNvSpPr txBox="1"/>
          <p:nvPr/>
        </p:nvSpPr>
        <p:spPr>
          <a:xfrm>
            <a:off x="9606" y="631040"/>
            <a:ext cx="3433692" cy="1523494"/>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Background</a:t>
            </a:r>
          </a:p>
          <a:p>
            <a:r>
              <a:rPr lang="en-US" sz="1300" dirty="0">
                <a:solidFill>
                  <a:schemeClr val="bg1"/>
                </a:solidFill>
              </a:rPr>
              <a:t>Olist is an e-commerce marketplace that connects businesses with customers. This analysis explores sales trends, top-performing sellers, and delivery performance to optimize business strategies and enhance customer satisfaction.</a:t>
            </a:r>
          </a:p>
        </p:txBody>
      </p:sp>
      <p:graphicFrame>
        <p:nvGraphicFramePr>
          <p:cNvPr id="5" name="Chart 4">
            <a:extLst>
              <a:ext uri="{FF2B5EF4-FFF2-40B4-BE49-F238E27FC236}">
                <a16:creationId xmlns:a16="http://schemas.microsoft.com/office/drawing/2014/main" id="{9FE18F29-905C-F101-96A6-2C76FA4617A2}"/>
              </a:ext>
            </a:extLst>
          </p:cNvPr>
          <p:cNvGraphicFramePr>
            <a:graphicFrameLocks/>
          </p:cNvGraphicFramePr>
          <p:nvPr>
            <p:extLst>
              <p:ext uri="{D42A27DB-BD31-4B8C-83A1-F6EECF244321}">
                <p14:modId xmlns:p14="http://schemas.microsoft.com/office/powerpoint/2010/main" val="1286673490"/>
              </p:ext>
            </p:extLst>
          </p:nvPr>
        </p:nvGraphicFramePr>
        <p:xfrm>
          <a:off x="3651299" y="1004504"/>
          <a:ext cx="2926427" cy="192794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C1AC5FA-096B-EAB3-F3AC-F6C170C75BF2}"/>
              </a:ext>
            </a:extLst>
          </p:cNvPr>
          <p:cNvSpPr txBox="1"/>
          <p:nvPr/>
        </p:nvSpPr>
        <p:spPr>
          <a:xfrm>
            <a:off x="-16852" y="2205598"/>
            <a:ext cx="3474803" cy="2323713"/>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Data</a:t>
            </a:r>
          </a:p>
          <a:p>
            <a:r>
              <a:rPr lang="en-US" sz="1300" dirty="0">
                <a:solidFill>
                  <a:schemeClr val="bg1"/>
                </a:solidFill>
              </a:rPr>
              <a:t>A public dataset from </a:t>
            </a:r>
            <a:r>
              <a:rPr lang="en-US" sz="1300" dirty="0">
                <a:solidFill>
                  <a:schemeClr val="bg1"/>
                </a:solidFill>
                <a:hlinkClick r:id="rId4">
                  <a:extLst>
                    <a:ext uri="{A12FA001-AC4F-418D-AE19-62706E023703}">
                      <ahyp:hlinkClr xmlns:ahyp="http://schemas.microsoft.com/office/drawing/2018/hyperlinkcolor" val="tx"/>
                    </a:ext>
                  </a:extLst>
                </a:hlinkClick>
              </a:rPr>
              <a:t>Kaggle</a:t>
            </a:r>
            <a:r>
              <a:rPr lang="en-US" sz="1300" dirty="0">
                <a:solidFill>
                  <a:schemeClr val="bg1"/>
                </a:solidFill>
              </a:rPr>
              <a:t> was used, containing information on e-commerce transactions in Brazil. The dataset includes details about orders, customers, sellers, products, payment methods, and delivery performance.</a:t>
            </a:r>
          </a:p>
          <a:p>
            <a:endParaRPr lang="en-US" sz="1300" dirty="0">
              <a:solidFill>
                <a:schemeClr val="bg1"/>
              </a:solidFill>
            </a:endParaRPr>
          </a:p>
          <a:p>
            <a:r>
              <a:rPr lang="en-US" sz="1300" dirty="0">
                <a:solidFill>
                  <a:schemeClr val="bg1"/>
                </a:solidFill>
              </a:rPr>
              <a:t>Data curation is applied to clean the data by removing all unuseful data and filling missing values</a:t>
            </a:r>
          </a:p>
        </p:txBody>
      </p:sp>
      <p:graphicFrame>
        <p:nvGraphicFramePr>
          <p:cNvPr id="8" name="Table 7">
            <a:extLst>
              <a:ext uri="{FF2B5EF4-FFF2-40B4-BE49-F238E27FC236}">
                <a16:creationId xmlns:a16="http://schemas.microsoft.com/office/drawing/2014/main" id="{E1A6660D-3FE8-91DB-2629-5FE7E6B3F962}"/>
              </a:ext>
            </a:extLst>
          </p:cNvPr>
          <p:cNvGraphicFramePr>
            <a:graphicFrameLocks noGrp="1"/>
          </p:cNvGraphicFramePr>
          <p:nvPr>
            <p:extLst>
              <p:ext uri="{D42A27DB-BD31-4B8C-83A1-F6EECF244321}">
                <p14:modId xmlns:p14="http://schemas.microsoft.com/office/powerpoint/2010/main" val="2046176142"/>
              </p:ext>
            </p:extLst>
          </p:nvPr>
        </p:nvGraphicFramePr>
        <p:xfrm>
          <a:off x="110500" y="4517575"/>
          <a:ext cx="3112341" cy="1211439"/>
        </p:xfrm>
        <a:graphic>
          <a:graphicData uri="http://schemas.openxmlformats.org/drawingml/2006/table">
            <a:tbl>
              <a:tblPr firstRow="1" bandRow="1">
                <a:tableStyleId>{5940675A-B579-460E-94D1-54222C63F5DA}</a:tableStyleId>
              </a:tblPr>
              <a:tblGrid>
                <a:gridCol w="976060">
                  <a:extLst>
                    <a:ext uri="{9D8B030D-6E8A-4147-A177-3AD203B41FA5}">
                      <a16:colId xmlns:a16="http://schemas.microsoft.com/office/drawing/2014/main" val="2581703027"/>
                    </a:ext>
                  </a:extLst>
                </a:gridCol>
                <a:gridCol w="2136281">
                  <a:extLst>
                    <a:ext uri="{9D8B030D-6E8A-4147-A177-3AD203B41FA5}">
                      <a16:colId xmlns:a16="http://schemas.microsoft.com/office/drawing/2014/main" val="21690705"/>
                    </a:ext>
                  </a:extLst>
                </a:gridCol>
              </a:tblGrid>
              <a:tr h="292463">
                <a:tc gridSpan="2">
                  <a:txBody>
                    <a:bodyPr/>
                    <a:lstStyle/>
                    <a:p>
                      <a:pPr algn="ctr"/>
                      <a:r>
                        <a:rPr lang="en-US" sz="1100" b="1" dirty="0">
                          <a:solidFill>
                            <a:schemeClr val="bg1"/>
                          </a:solidFill>
                        </a:rPr>
                        <a:t>Original Data</a:t>
                      </a:r>
                    </a:p>
                  </a:txBody>
                  <a:tcPr>
                    <a:noFill/>
                  </a:tcPr>
                </a:tc>
                <a:tc hMerge="1">
                  <a:txBody>
                    <a:bodyPr/>
                    <a:lstStyle/>
                    <a:p>
                      <a:endParaRPr lang="en-US"/>
                    </a:p>
                  </a:txBody>
                  <a:tcPr/>
                </a:tc>
                <a:extLst>
                  <a:ext uri="{0D108BD9-81ED-4DB2-BD59-A6C34878D82A}">
                    <a16:rowId xmlns:a16="http://schemas.microsoft.com/office/drawing/2014/main" val="2862669263"/>
                  </a:ext>
                </a:extLst>
              </a:tr>
              <a:tr h="292463">
                <a:tc>
                  <a:txBody>
                    <a:bodyPr/>
                    <a:lstStyle/>
                    <a:p>
                      <a:r>
                        <a:rPr lang="en-US" sz="1100" dirty="0">
                          <a:solidFill>
                            <a:schemeClr val="bg1"/>
                          </a:solidFill>
                        </a:rPr>
                        <a:t>99,441 order</a:t>
                      </a:r>
                    </a:p>
                  </a:txBody>
                  <a:tcPr>
                    <a:noFill/>
                  </a:tcPr>
                </a:tc>
                <a:tc>
                  <a:txBody>
                    <a:bodyPr/>
                    <a:lstStyle/>
                    <a:p>
                      <a:r>
                        <a:rPr lang="en-US" sz="1100" dirty="0">
                          <a:solidFill>
                            <a:schemeClr val="bg1"/>
                          </a:solidFill>
                        </a:rPr>
                        <a:t>9 tables with Different lengths</a:t>
                      </a:r>
                    </a:p>
                  </a:txBody>
                  <a:tcPr>
                    <a:noFill/>
                  </a:tcPr>
                </a:tc>
                <a:extLst>
                  <a:ext uri="{0D108BD9-81ED-4DB2-BD59-A6C34878D82A}">
                    <a16:rowId xmlns:a16="http://schemas.microsoft.com/office/drawing/2014/main" val="3375991036"/>
                  </a:ext>
                </a:extLst>
              </a:tr>
              <a:tr h="257447">
                <a:tc gridSpan="2">
                  <a:txBody>
                    <a:bodyPr/>
                    <a:lstStyle/>
                    <a:p>
                      <a:pPr algn="ctr"/>
                      <a:r>
                        <a:rPr lang="en-US" sz="1100" b="1" dirty="0">
                          <a:solidFill>
                            <a:schemeClr val="bg1"/>
                          </a:solidFill>
                        </a:rPr>
                        <a:t>Curated data</a:t>
                      </a:r>
                    </a:p>
                  </a:txBody>
                  <a:tcPr>
                    <a:noFill/>
                  </a:tcPr>
                </a:tc>
                <a:tc hMerge="1">
                  <a:txBody>
                    <a:bodyPr/>
                    <a:lstStyle/>
                    <a:p>
                      <a:endParaRPr lang="en-US"/>
                    </a:p>
                  </a:txBody>
                  <a:tcPr/>
                </a:tc>
                <a:extLst>
                  <a:ext uri="{0D108BD9-81ED-4DB2-BD59-A6C34878D82A}">
                    <a16:rowId xmlns:a16="http://schemas.microsoft.com/office/drawing/2014/main" val="219093086"/>
                  </a:ext>
                </a:extLst>
              </a:tr>
              <a:tr h="367433">
                <a:tc>
                  <a:txBody>
                    <a:bodyPr/>
                    <a:lstStyle/>
                    <a:p>
                      <a:r>
                        <a:rPr lang="en-US" sz="1100" dirty="0">
                          <a:solidFill>
                            <a:schemeClr val="bg1"/>
                          </a:solidFill>
                        </a:rPr>
                        <a:t>96,478 order</a:t>
                      </a:r>
                    </a:p>
                  </a:txBody>
                  <a:tcPr>
                    <a:noFill/>
                  </a:tcPr>
                </a:tc>
                <a:tc>
                  <a:txBody>
                    <a:bodyPr/>
                    <a:lstStyle/>
                    <a:p>
                      <a:r>
                        <a:rPr lang="en-US" sz="1100" dirty="0">
                          <a:solidFill>
                            <a:schemeClr val="bg1"/>
                          </a:solidFill>
                        </a:rPr>
                        <a:t>5 tables with Different lengths</a:t>
                      </a:r>
                    </a:p>
                  </a:txBody>
                  <a:tcPr>
                    <a:noFill/>
                  </a:tcPr>
                </a:tc>
                <a:extLst>
                  <a:ext uri="{0D108BD9-81ED-4DB2-BD59-A6C34878D82A}">
                    <a16:rowId xmlns:a16="http://schemas.microsoft.com/office/drawing/2014/main" val="1828147431"/>
                  </a:ext>
                </a:extLst>
              </a:tr>
            </a:tbl>
          </a:graphicData>
        </a:graphic>
      </p:graphicFrame>
      <p:sp>
        <p:nvSpPr>
          <p:cNvPr id="9" name="TextBox 8">
            <a:extLst>
              <a:ext uri="{FF2B5EF4-FFF2-40B4-BE49-F238E27FC236}">
                <a16:creationId xmlns:a16="http://schemas.microsoft.com/office/drawing/2014/main" id="{089B6026-CE55-1B94-EC55-ED83A7A0483A}"/>
              </a:ext>
            </a:extLst>
          </p:cNvPr>
          <p:cNvSpPr txBox="1"/>
          <p:nvPr/>
        </p:nvSpPr>
        <p:spPr>
          <a:xfrm>
            <a:off x="-16852" y="5898483"/>
            <a:ext cx="3436168" cy="1123384"/>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Tools</a:t>
            </a:r>
          </a:p>
          <a:p>
            <a:r>
              <a:rPr lang="en-US" sz="1300" dirty="0">
                <a:solidFill>
                  <a:schemeClr val="bg1"/>
                </a:solidFill>
              </a:rPr>
              <a:t>In this project, SQL &amp; EXCEL are used to Complete the data curation Exploratory Data Analysis. Then, Tableau is used to develop a dashboard that </a:t>
            </a:r>
          </a:p>
        </p:txBody>
      </p:sp>
      <p:graphicFrame>
        <p:nvGraphicFramePr>
          <p:cNvPr id="10" name="Chart 9">
            <a:extLst>
              <a:ext uri="{FF2B5EF4-FFF2-40B4-BE49-F238E27FC236}">
                <a16:creationId xmlns:a16="http://schemas.microsoft.com/office/drawing/2014/main" id="{23D2E90E-8D27-9FD3-35F7-BED22A1BF05D}"/>
              </a:ext>
            </a:extLst>
          </p:cNvPr>
          <p:cNvGraphicFramePr>
            <a:graphicFrameLocks/>
          </p:cNvGraphicFramePr>
          <p:nvPr>
            <p:extLst>
              <p:ext uri="{D42A27DB-BD31-4B8C-83A1-F6EECF244321}">
                <p14:modId xmlns:p14="http://schemas.microsoft.com/office/powerpoint/2010/main" val="3576657536"/>
              </p:ext>
            </p:extLst>
          </p:nvPr>
        </p:nvGraphicFramePr>
        <p:xfrm>
          <a:off x="3630659" y="2978512"/>
          <a:ext cx="2938384" cy="200122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26038741-DCCF-296E-C242-D8D52BBFD6E8}"/>
              </a:ext>
            </a:extLst>
          </p:cNvPr>
          <p:cNvGraphicFramePr>
            <a:graphicFrameLocks/>
          </p:cNvGraphicFramePr>
          <p:nvPr>
            <p:extLst>
              <p:ext uri="{D42A27DB-BD31-4B8C-83A1-F6EECF244321}">
                <p14:modId xmlns:p14="http://schemas.microsoft.com/office/powerpoint/2010/main" val="945485916"/>
              </p:ext>
            </p:extLst>
          </p:nvPr>
        </p:nvGraphicFramePr>
        <p:xfrm>
          <a:off x="8501197" y="1012228"/>
          <a:ext cx="2403395" cy="2024523"/>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Box 11">
            <a:extLst>
              <a:ext uri="{FF2B5EF4-FFF2-40B4-BE49-F238E27FC236}">
                <a16:creationId xmlns:a16="http://schemas.microsoft.com/office/drawing/2014/main" id="{75F43F1B-3A48-DAAC-E99D-E6C15B091295}"/>
              </a:ext>
            </a:extLst>
          </p:cNvPr>
          <p:cNvSpPr txBox="1"/>
          <p:nvPr/>
        </p:nvSpPr>
        <p:spPr>
          <a:xfrm>
            <a:off x="3555894" y="631040"/>
            <a:ext cx="896366" cy="323165"/>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EDA</a:t>
            </a:r>
          </a:p>
        </p:txBody>
      </p:sp>
      <p:sp>
        <p:nvSpPr>
          <p:cNvPr id="14" name="Rectangle: Rounded Corners 13">
            <a:extLst>
              <a:ext uri="{FF2B5EF4-FFF2-40B4-BE49-F238E27FC236}">
                <a16:creationId xmlns:a16="http://schemas.microsoft.com/office/drawing/2014/main" id="{F39A8767-97AE-D672-BA7D-BA1747D5DB0D}"/>
              </a:ext>
            </a:extLst>
          </p:cNvPr>
          <p:cNvSpPr/>
          <p:nvPr/>
        </p:nvSpPr>
        <p:spPr>
          <a:xfrm rot="5400000">
            <a:off x="7246759" y="-6828976"/>
            <a:ext cx="128193" cy="1463909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0F0C03A-A51C-0C88-578A-D2291E50F369}"/>
              </a:ext>
            </a:extLst>
          </p:cNvPr>
          <p:cNvSpPr/>
          <p:nvPr/>
        </p:nvSpPr>
        <p:spPr>
          <a:xfrm>
            <a:off x="8379897" y="954205"/>
            <a:ext cx="45719" cy="61965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4A59333-8A23-ACD8-930D-DC5D3E14A8A8}"/>
              </a:ext>
            </a:extLst>
          </p:cNvPr>
          <p:cNvSpPr txBox="1"/>
          <p:nvPr/>
        </p:nvSpPr>
        <p:spPr>
          <a:xfrm>
            <a:off x="8501197" y="3117341"/>
            <a:ext cx="2417796" cy="892552"/>
          </a:xfrm>
          <a:prstGeom prst="rect">
            <a:avLst/>
          </a:prstGeom>
          <a:noFill/>
        </p:spPr>
        <p:txBody>
          <a:bodyPr wrap="square" rtlCol="0">
            <a:spAutoFit/>
          </a:bodyPr>
          <a:lstStyle/>
          <a:p>
            <a:r>
              <a:rPr lang="en-US" sz="1300" b="1" dirty="0">
                <a:solidFill>
                  <a:schemeClr val="accent4">
                    <a:lumMod val="40000"/>
                    <a:lumOff val="60000"/>
                  </a:schemeClr>
                </a:solidFill>
              </a:rPr>
              <a:t>Figure 4 : </a:t>
            </a:r>
            <a:r>
              <a:rPr lang="en-US" sz="1300" b="1" dirty="0">
                <a:solidFill>
                  <a:schemeClr val="bg1"/>
                </a:solidFill>
              </a:rPr>
              <a:t> </a:t>
            </a:r>
            <a:r>
              <a:rPr lang="en-US" sz="1300" dirty="0">
                <a:solidFill>
                  <a:schemeClr val="bg1"/>
                </a:solidFill>
              </a:rPr>
              <a:t>71% of Orders are concentrated only in SP State , which indicates weak sales in other states.</a:t>
            </a:r>
          </a:p>
        </p:txBody>
      </p:sp>
      <p:sp>
        <p:nvSpPr>
          <p:cNvPr id="20" name="TextBox 19">
            <a:extLst>
              <a:ext uri="{FF2B5EF4-FFF2-40B4-BE49-F238E27FC236}">
                <a16:creationId xmlns:a16="http://schemas.microsoft.com/office/drawing/2014/main" id="{7FBCF0AD-74B7-6ECE-402B-144D93B506A6}"/>
              </a:ext>
            </a:extLst>
          </p:cNvPr>
          <p:cNvSpPr txBox="1"/>
          <p:nvPr/>
        </p:nvSpPr>
        <p:spPr>
          <a:xfrm>
            <a:off x="6534973" y="2939626"/>
            <a:ext cx="1790501" cy="2092881"/>
          </a:xfrm>
          <a:prstGeom prst="rect">
            <a:avLst/>
          </a:prstGeom>
          <a:noFill/>
        </p:spPr>
        <p:txBody>
          <a:bodyPr wrap="square" rtlCol="0">
            <a:spAutoFit/>
          </a:bodyPr>
          <a:lstStyle/>
          <a:p>
            <a:r>
              <a:rPr lang="en-US" sz="1300" b="1" dirty="0">
                <a:solidFill>
                  <a:schemeClr val="accent4">
                    <a:lumMod val="40000"/>
                    <a:lumOff val="60000"/>
                  </a:schemeClr>
                </a:solidFill>
              </a:rPr>
              <a:t>Figure 3 </a:t>
            </a:r>
            <a:r>
              <a:rPr lang="en-US" sz="1300" b="1" dirty="0">
                <a:solidFill>
                  <a:srgbClr val="00B0F0"/>
                </a:solidFill>
              </a:rPr>
              <a:t>: </a:t>
            </a:r>
            <a:r>
              <a:rPr lang="en-US" sz="1300" dirty="0">
                <a:solidFill>
                  <a:schemeClr val="bg1"/>
                </a:solidFill>
              </a:rPr>
              <a:t>SP State dominates seller revenue, generating significantly higher sales compared to other states, indicating a concentration of top-performing sellers in this region.</a:t>
            </a:r>
          </a:p>
        </p:txBody>
      </p:sp>
      <p:sp>
        <p:nvSpPr>
          <p:cNvPr id="28" name="TextBox 27">
            <a:extLst>
              <a:ext uri="{FF2B5EF4-FFF2-40B4-BE49-F238E27FC236}">
                <a16:creationId xmlns:a16="http://schemas.microsoft.com/office/drawing/2014/main" id="{A08C272F-9962-12C1-8B17-26BF61C3F747}"/>
              </a:ext>
            </a:extLst>
          </p:cNvPr>
          <p:cNvSpPr txBox="1"/>
          <p:nvPr/>
        </p:nvSpPr>
        <p:spPr>
          <a:xfrm>
            <a:off x="11107786" y="631040"/>
            <a:ext cx="2682672" cy="323165"/>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Dashboard</a:t>
            </a:r>
          </a:p>
        </p:txBody>
      </p:sp>
      <p:sp>
        <p:nvSpPr>
          <p:cNvPr id="29" name="TextBox 28">
            <a:extLst>
              <a:ext uri="{FF2B5EF4-FFF2-40B4-BE49-F238E27FC236}">
                <a16:creationId xmlns:a16="http://schemas.microsoft.com/office/drawing/2014/main" id="{59E65446-8185-7985-165E-C2D657BD31A0}"/>
              </a:ext>
            </a:extLst>
          </p:cNvPr>
          <p:cNvSpPr txBox="1"/>
          <p:nvPr/>
        </p:nvSpPr>
        <p:spPr>
          <a:xfrm>
            <a:off x="11097829" y="5086984"/>
            <a:ext cx="3548925" cy="1831271"/>
          </a:xfrm>
          <a:prstGeom prst="rect">
            <a:avLst/>
          </a:prstGeom>
          <a:noFill/>
        </p:spPr>
        <p:txBody>
          <a:bodyPr wrap="square" rtlCol="0">
            <a:spAutoFit/>
          </a:bodyPr>
          <a:lstStyle/>
          <a:p>
            <a:r>
              <a:rPr lang="en-US" sz="1500" dirty="0">
                <a:solidFill>
                  <a:srgbClr val="3B6AFF"/>
                </a:solidFill>
                <a:latin typeface="Arial Black" panose="020B0A04020102020204" pitchFamily="34" charset="0"/>
              </a:rPr>
              <a:t>Conclusion</a:t>
            </a:r>
            <a:endParaRPr lang="en-US" sz="1300" dirty="0">
              <a:solidFill>
                <a:schemeClr val="bg1"/>
              </a:solidFill>
              <a:latin typeface="Arial Black" panose="020B0A04020102020204" pitchFamily="34" charset="0"/>
            </a:endParaRPr>
          </a:p>
          <a:p>
            <a:r>
              <a:rPr lang="en-US" sz="1400" dirty="0">
                <a:solidFill>
                  <a:schemeClr val="bg1"/>
                </a:solidFill>
              </a:rPr>
              <a:t>The analysis highlights a strong concentration of sales in specific states and product categories. Faster deliveries lead to higher customer satisfaction, while delays impact review scores negatively. These insights can help optimize logistics and product strategies.</a:t>
            </a:r>
            <a:endParaRPr lang="en-US" sz="1400" dirty="0">
              <a:solidFill>
                <a:srgbClr val="3B6AFF"/>
              </a:solidFill>
              <a:latin typeface="Arial Black" panose="020B0A04020102020204" pitchFamily="34" charset="0"/>
            </a:endParaRPr>
          </a:p>
        </p:txBody>
      </p:sp>
      <p:sp>
        <p:nvSpPr>
          <p:cNvPr id="30" name="TextBox 29">
            <a:extLst>
              <a:ext uri="{FF2B5EF4-FFF2-40B4-BE49-F238E27FC236}">
                <a16:creationId xmlns:a16="http://schemas.microsoft.com/office/drawing/2014/main" id="{B444FC9A-067D-3217-5AD1-B36655009B38}"/>
              </a:ext>
            </a:extLst>
          </p:cNvPr>
          <p:cNvSpPr txBox="1"/>
          <p:nvPr/>
        </p:nvSpPr>
        <p:spPr>
          <a:xfrm>
            <a:off x="6553123" y="1087230"/>
            <a:ext cx="1781055" cy="1692771"/>
          </a:xfrm>
          <a:prstGeom prst="rect">
            <a:avLst/>
          </a:prstGeom>
          <a:noFill/>
        </p:spPr>
        <p:txBody>
          <a:bodyPr wrap="square" rtlCol="0">
            <a:spAutoFit/>
          </a:bodyPr>
          <a:lstStyle/>
          <a:p>
            <a:r>
              <a:rPr lang="en-US" sz="1300" b="1" dirty="0">
                <a:solidFill>
                  <a:schemeClr val="accent4">
                    <a:lumMod val="40000"/>
                    <a:lumOff val="60000"/>
                  </a:schemeClr>
                </a:solidFill>
              </a:rPr>
              <a:t>Figure 1 : </a:t>
            </a:r>
          </a:p>
          <a:p>
            <a:r>
              <a:rPr lang="en-US" sz="1300" dirty="0">
                <a:solidFill>
                  <a:schemeClr val="bg1"/>
                </a:solidFill>
              </a:rPr>
              <a:t>Orders with longer delivery times tend to receive lower review scores, while faster deliveries are associated with higher ratings.</a:t>
            </a:r>
            <a:r>
              <a:rPr lang="en-US" sz="1300" b="1" dirty="0">
                <a:solidFill>
                  <a:schemeClr val="bg1"/>
                </a:solidFill>
              </a:rPr>
              <a:t> </a:t>
            </a:r>
            <a:endParaRPr lang="en-US" sz="1300" dirty="0">
              <a:solidFill>
                <a:schemeClr val="bg1"/>
              </a:solidFill>
            </a:endParaRPr>
          </a:p>
        </p:txBody>
      </p:sp>
      <p:sp>
        <p:nvSpPr>
          <p:cNvPr id="32" name="TextBox 31">
            <a:extLst>
              <a:ext uri="{FF2B5EF4-FFF2-40B4-BE49-F238E27FC236}">
                <a16:creationId xmlns:a16="http://schemas.microsoft.com/office/drawing/2014/main" id="{5D97F9A1-0621-75B0-0E2C-62A59BCC64FD}"/>
              </a:ext>
            </a:extLst>
          </p:cNvPr>
          <p:cNvSpPr txBox="1"/>
          <p:nvPr/>
        </p:nvSpPr>
        <p:spPr>
          <a:xfrm>
            <a:off x="8421551" y="6323695"/>
            <a:ext cx="2646342" cy="692497"/>
          </a:xfrm>
          <a:prstGeom prst="rect">
            <a:avLst/>
          </a:prstGeom>
          <a:noFill/>
        </p:spPr>
        <p:txBody>
          <a:bodyPr wrap="square" rtlCol="0">
            <a:spAutoFit/>
          </a:bodyPr>
          <a:lstStyle/>
          <a:p>
            <a:r>
              <a:rPr lang="en-US" sz="1300" b="1" dirty="0">
                <a:solidFill>
                  <a:schemeClr val="accent4">
                    <a:lumMod val="40000"/>
                    <a:lumOff val="60000"/>
                  </a:schemeClr>
                </a:solidFill>
              </a:rPr>
              <a:t>Figure 5 : </a:t>
            </a:r>
            <a:r>
              <a:rPr lang="en-US" sz="1300" dirty="0">
                <a:solidFill>
                  <a:schemeClr val="bg1"/>
                </a:solidFill>
              </a:rPr>
              <a:t>85% of orders were delivered in less than 20 days, and 15% exceeded this period. </a:t>
            </a:r>
          </a:p>
        </p:txBody>
      </p:sp>
      <p:sp>
        <p:nvSpPr>
          <p:cNvPr id="33" name="TextBox 32">
            <a:extLst>
              <a:ext uri="{FF2B5EF4-FFF2-40B4-BE49-F238E27FC236}">
                <a16:creationId xmlns:a16="http://schemas.microsoft.com/office/drawing/2014/main" id="{025A588E-16E9-6452-2139-6FD3909422DC}"/>
              </a:ext>
            </a:extLst>
          </p:cNvPr>
          <p:cNvSpPr txBox="1"/>
          <p:nvPr/>
        </p:nvSpPr>
        <p:spPr>
          <a:xfrm>
            <a:off x="11150300" y="3810190"/>
            <a:ext cx="2952963" cy="1169551"/>
          </a:xfrm>
          <a:prstGeom prst="rect">
            <a:avLst/>
          </a:prstGeom>
          <a:noFill/>
        </p:spPr>
        <p:txBody>
          <a:bodyPr wrap="square" rtlCol="0">
            <a:spAutoFit/>
          </a:bodyPr>
          <a:lstStyle/>
          <a:p>
            <a:r>
              <a:rPr lang="en-US" sz="1400" b="1" dirty="0">
                <a:solidFill>
                  <a:schemeClr val="accent4">
                    <a:lumMod val="40000"/>
                    <a:lumOff val="60000"/>
                  </a:schemeClr>
                </a:solidFill>
              </a:rPr>
              <a:t>Figure 6 :</a:t>
            </a:r>
            <a:r>
              <a:rPr lang="en-US" sz="1400" dirty="0">
                <a:solidFill>
                  <a:schemeClr val="accent4">
                    <a:lumMod val="40000"/>
                    <a:lumOff val="60000"/>
                  </a:schemeClr>
                </a:solidFill>
              </a:rPr>
              <a:t> </a:t>
            </a:r>
            <a:r>
              <a:rPr lang="en-US" sz="1400" dirty="0">
                <a:solidFill>
                  <a:schemeClr val="bg1"/>
                </a:solidFill>
              </a:rPr>
              <a:t>The </a:t>
            </a:r>
            <a:r>
              <a:rPr lang="en-US" sz="1400" b="1" dirty="0">
                <a:solidFill>
                  <a:srgbClr val="3B6AFF"/>
                </a:solidFill>
                <a:hlinkClick r:id="rId7"/>
              </a:rPr>
              <a:t>Dashboard</a:t>
            </a:r>
            <a:r>
              <a:rPr lang="en-US" sz="1400" dirty="0">
                <a:solidFill>
                  <a:schemeClr val="bg1"/>
                </a:solidFill>
              </a:rPr>
              <a:t> provides an interactive way to explore key insights, including sales trends, customer distribution, and delivery performance.</a:t>
            </a:r>
          </a:p>
        </p:txBody>
      </p:sp>
      <p:sp>
        <p:nvSpPr>
          <p:cNvPr id="3" name="TextBox 2">
            <a:extLst>
              <a:ext uri="{FF2B5EF4-FFF2-40B4-BE49-F238E27FC236}">
                <a16:creationId xmlns:a16="http://schemas.microsoft.com/office/drawing/2014/main" id="{612EB689-5048-4326-40F2-D8A87093857D}"/>
              </a:ext>
            </a:extLst>
          </p:cNvPr>
          <p:cNvSpPr txBox="1"/>
          <p:nvPr/>
        </p:nvSpPr>
        <p:spPr>
          <a:xfrm>
            <a:off x="9327361" y="179310"/>
            <a:ext cx="1786781" cy="261610"/>
          </a:xfrm>
          <a:prstGeom prst="rect">
            <a:avLst/>
          </a:prstGeom>
          <a:noFill/>
        </p:spPr>
        <p:txBody>
          <a:bodyPr wrap="square" rtlCol="0">
            <a:spAutoFit/>
          </a:bodyPr>
          <a:lstStyle/>
          <a:p>
            <a:r>
              <a:rPr lang="en-US" sz="1100" b="1" dirty="0">
                <a:solidFill>
                  <a:schemeClr val="bg1"/>
                </a:solidFill>
                <a:latin typeface="Arial Black" panose="020B0A04020102020204" pitchFamily="34" charset="0"/>
              </a:rPr>
              <a:t>By Ahmad Assi</a:t>
            </a:r>
          </a:p>
        </p:txBody>
      </p:sp>
      <p:graphicFrame>
        <p:nvGraphicFramePr>
          <p:cNvPr id="21" name="Chart 20">
            <a:extLst>
              <a:ext uri="{FF2B5EF4-FFF2-40B4-BE49-F238E27FC236}">
                <a16:creationId xmlns:a16="http://schemas.microsoft.com/office/drawing/2014/main" id="{A323B8EB-EB49-94DD-62CC-4D15CE998627}"/>
              </a:ext>
            </a:extLst>
          </p:cNvPr>
          <p:cNvGraphicFramePr>
            <a:graphicFrameLocks/>
          </p:cNvGraphicFramePr>
          <p:nvPr>
            <p:extLst>
              <p:ext uri="{D42A27DB-BD31-4B8C-83A1-F6EECF244321}">
                <p14:modId xmlns:p14="http://schemas.microsoft.com/office/powerpoint/2010/main" val="2667575344"/>
              </p:ext>
            </p:extLst>
          </p:nvPr>
        </p:nvGraphicFramePr>
        <p:xfrm>
          <a:off x="8501197" y="4171072"/>
          <a:ext cx="2417796" cy="2097506"/>
        </p:xfrm>
        <a:graphic>
          <a:graphicData uri="http://schemas.openxmlformats.org/drawingml/2006/chart">
            <c:chart xmlns:c="http://schemas.openxmlformats.org/drawingml/2006/chart" xmlns:r="http://schemas.openxmlformats.org/officeDocument/2006/relationships" r:id="rId8"/>
          </a:graphicData>
        </a:graphic>
      </p:graphicFrame>
      <p:sp>
        <p:nvSpPr>
          <p:cNvPr id="22" name="Rectangle 21">
            <a:extLst>
              <a:ext uri="{FF2B5EF4-FFF2-40B4-BE49-F238E27FC236}">
                <a16:creationId xmlns:a16="http://schemas.microsoft.com/office/drawing/2014/main" id="{1982DBA2-1ABB-78AB-CD88-FC27B96922CD}"/>
              </a:ext>
            </a:extLst>
          </p:cNvPr>
          <p:cNvSpPr/>
          <p:nvPr/>
        </p:nvSpPr>
        <p:spPr>
          <a:xfrm>
            <a:off x="3416189" y="554669"/>
            <a:ext cx="108060" cy="675803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D5B1FF5B-00AF-1C9C-A7F4-635D6CC449A5}"/>
              </a:ext>
            </a:extLst>
          </p:cNvPr>
          <p:cNvSpPr/>
          <p:nvPr/>
        </p:nvSpPr>
        <p:spPr>
          <a:xfrm>
            <a:off x="10973416" y="538145"/>
            <a:ext cx="108060" cy="675803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2605D13D-5279-BA28-80FE-1BF70F42E573}"/>
              </a:ext>
            </a:extLst>
          </p:cNvPr>
          <p:cNvSpPr txBox="1"/>
          <p:nvPr/>
        </p:nvSpPr>
        <p:spPr>
          <a:xfrm>
            <a:off x="6581518" y="5123294"/>
            <a:ext cx="1722798" cy="1892826"/>
          </a:xfrm>
          <a:prstGeom prst="rect">
            <a:avLst/>
          </a:prstGeom>
          <a:noFill/>
        </p:spPr>
        <p:txBody>
          <a:bodyPr wrap="square" rtlCol="0">
            <a:spAutoFit/>
          </a:bodyPr>
          <a:lstStyle/>
          <a:p>
            <a:r>
              <a:rPr lang="en-US" sz="1300" b="1" dirty="0">
                <a:solidFill>
                  <a:schemeClr val="accent4">
                    <a:lumMod val="40000"/>
                    <a:lumOff val="60000"/>
                  </a:schemeClr>
                </a:solidFill>
              </a:rPr>
              <a:t>Figure 2 : </a:t>
            </a:r>
          </a:p>
          <a:p>
            <a:r>
              <a:rPr lang="en-US" sz="1300" dirty="0">
                <a:solidFill>
                  <a:schemeClr val="bg1"/>
                </a:solidFill>
              </a:rPr>
              <a:t>64% of Orders are concentrated in only 14% of products</a:t>
            </a:r>
            <a:r>
              <a:rPr lang="ar-JO" sz="1300" dirty="0">
                <a:solidFill>
                  <a:schemeClr val="bg1"/>
                </a:solidFill>
              </a:rPr>
              <a:t> </a:t>
            </a:r>
            <a:r>
              <a:rPr lang="en-US" sz="1300" dirty="0">
                <a:solidFill>
                  <a:schemeClr val="bg1"/>
                </a:solidFill>
              </a:rPr>
              <a:t>Categories, which indicates the concentration of sales on a few popular products.</a:t>
            </a:r>
          </a:p>
        </p:txBody>
      </p:sp>
      <p:graphicFrame>
        <p:nvGraphicFramePr>
          <p:cNvPr id="6" name="Chart 5">
            <a:extLst>
              <a:ext uri="{FF2B5EF4-FFF2-40B4-BE49-F238E27FC236}">
                <a16:creationId xmlns:a16="http://schemas.microsoft.com/office/drawing/2014/main" id="{AF7438E7-2D18-FE5D-5275-505D158ED391}"/>
              </a:ext>
            </a:extLst>
          </p:cNvPr>
          <p:cNvGraphicFramePr>
            <a:graphicFrameLocks/>
          </p:cNvGraphicFramePr>
          <p:nvPr>
            <p:extLst>
              <p:ext uri="{D42A27DB-BD31-4B8C-83A1-F6EECF244321}">
                <p14:modId xmlns:p14="http://schemas.microsoft.com/office/powerpoint/2010/main" val="1216136685"/>
              </p:ext>
            </p:extLst>
          </p:nvPr>
        </p:nvGraphicFramePr>
        <p:xfrm>
          <a:off x="3630659" y="5071393"/>
          <a:ext cx="2926427" cy="2117732"/>
        </p:xfrm>
        <a:graphic>
          <a:graphicData uri="http://schemas.openxmlformats.org/drawingml/2006/chart">
            <c:chart xmlns:c="http://schemas.openxmlformats.org/drawingml/2006/chart" xmlns:r="http://schemas.openxmlformats.org/officeDocument/2006/relationships" r:id="rId9"/>
          </a:graphicData>
        </a:graphic>
      </p:graphicFrame>
      <p:pic>
        <p:nvPicPr>
          <p:cNvPr id="17" name="Picture 16" descr="A screenshot of a computer&#10;&#10;AI-generated content may be incorrect.">
            <a:extLst>
              <a:ext uri="{FF2B5EF4-FFF2-40B4-BE49-F238E27FC236}">
                <a16:creationId xmlns:a16="http://schemas.microsoft.com/office/drawing/2014/main" id="{C1319E7C-909E-CF50-C1FA-4F7CE596041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150300" y="1004504"/>
            <a:ext cx="3425237" cy="2698443"/>
          </a:xfrm>
          <a:prstGeom prst="rect">
            <a:avLst/>
          </a:prstGeom>
        </p:spPr>
      </p:pic>
    </p:spTree>
    <p:extLst>
      <p:ext uri="{BB962C8B-B14F-4D97-AF65-F5344CB8AC3E}">
        <p14:creationId xmlns:p14="http://schemas.microsoft.com/office/powerpoint/2010/main" val="1680293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2106</TotalTime>
  <Words>382</Words>
  <Application>Microsoft Office PowerPoint</Application>
  <PresentationFormat>Custom</PresentationFormat>
  <Paragraphs>54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Arial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Ahmad Assi</dc:creator>
  <cp:lastModifiedBy>Ahmad Assi</cp:lastModifiedBy>
  <cp:revision>29</cp:revision>
  <dcterms:created xsi:type="dcterms:W3CDTF">2025-02-21T23:00:57Z</dcterms:created>
  <dcterms:modified xsi:type="dcterms:W3CDTF">2025-03-16T23:38:00Z</dcterms:modified>
</cp:coreProperties>
</file>